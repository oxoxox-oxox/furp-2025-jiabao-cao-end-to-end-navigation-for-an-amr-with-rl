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30267275" cy="42794238"/>
  <p:notesSz cx="42794238" cy="302672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2A13230-3242-4D7B-A253-3D63CD1DA79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10EAB1-EE3D-4686-9966-825C0E8BA0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513080" y="10013760"/>
            <a:ext cx="27240120" cy="248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27240120" cy="248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3000" cy="248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15471000" y="10013760"/>
            <a:ext cx="13293000" cy="248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1513080" y="1707480"/>
            <a:ext cx="27240120" cy="3312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15471000" y="10013760"/>
            <a:ext cx="13293000" cy="248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1513080" y="2297772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3000" cy="248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15471000" y="1001376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15471000" y="2297772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15471000" y="1001376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1513080" y="22977720"/>
            <a:ext cx="2724012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2724012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1513080" y="22977720"/>
            <a:ext cx="2724012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15471000" y="1001376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513080" y="2297772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15471000" y="22977720"/>
            <a:ext cx="1329300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13080" y="1707480"/>
            <a:ext cx="27240120" cy="714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513080" y="10013760"/>
            <a:ext cx="87710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0722960" y="10013760"/>
            <a:ext cx="87710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9933200" y="10013760"/>
            <a:ext cx="87710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1513080" y="22977720"/>
            <a:ext cx="87710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/>
          </p:nvPr>
        </p:nvSpPr>
        <p:spPr>
          <a:xfrm>
            <a:off x="10722960" y="22977720"/>
            <a:ext cx="87710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/>
          </p:nvPr>
        </p:nvSpPr>
        <p:spPr>
          <a:xfrm>
            <a:off x="19933200" y="22977720"/>
            <a:ext cx="8771040" cy="118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30265920" cy="502848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Text 1"/>
          <p:cNvSpPr/>
          <p:nvPr/>
        </p:nvSpPr>
        <p:spPr>
          <a:xfrm>
            <a:off x="1371600" y="731520"/>
            <a:ext cx="274312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5600" spc="-1" strike="noStrike">
                <a:solidFill>
                  <a:srgbClr val="ffffff"/>
                </a:solidFill>
                <a:latin typeface="Calibri"/>
                <a:ea typeface="Calibri"/>
              </a:rPr>
              <a:t>Stall-Triggered Policy Switching for</a:t>
            </a:r>
            <a:endParaRPr b="0" lang="en-US" sz="56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5600" spc="-1" strike="noStrike">
                <a:solidFill>
                  <a:srgbClr val="ffffff"/>
                </a:solidFill>
                <a:latin typeface="Calibri"/>
                <a:ea typeface="Calibri"/>
              </a:rPr>
              <a:t>DRL Navigation in Trap Scenarios</a:t>
            </a:r>
            <a:endParaRPr b="0" lang="en-US" sz="5600" spc="-1" strike="noStrike"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2743200" y="2743200"/>
            <a:ext cx="2468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b0c4de"/>
                </a:solidFill>
                <a:latin typeface="Calibri"/>
                <a:ea typeface="Calibri"/>
              </a:rPr>
              <a:t>Composing complementary policies at runtime to eliminate catastrophic navigation failures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2743200" y="3657600"/>
            <a:ext cx="24688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8eaecb"/>
                </a:solidFill>
                <a:latin typeface="Calibri"/>
                <a:ea typeface="Calibri"/>
              </a:rPr>
              <a:t>[Author Name]  ·  [University Name]  ·  Summer Research 2026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1828800" y="5303520"/>
            <a:ext cx="26516880" cy="182808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 w="2540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5"/>
          <p:cNvSpPr/>
          <p:nvPr/>
        </p:nvSpPr>
        <p:spPr>
          <a:xfrm>
            <a:off x="3200400" y="5394960"/>
            <a:ext cx="4571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2b6cb0"/>
                </a:solidFill>
                <a:latin typeface="Arial"/>
                <a:ea typeface="Arial"/>
              </a:rPr>
              <a:t>94%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3200400" y="640080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Scenario avg SR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(+27 vs baseline)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9601200" y="5394960"/>
            <a:ext cx="4571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2b6cb0"/>
                </a:solidFill>
                <a:latin typeface="Arial"/>
                <a:ea typeface="Arial"/>
              </a:rPr>
              <a:t>88%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9601200" y="640080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Standard env SR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(matches baseline)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16002000" y="5394960"/>
            <a:ext cx="4571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2b6cb0"/>
                </a:solidFill>
                <a:latin typeface="Arial"/>
                <a:ea typeface="Arial"/>
              </a:rPr>
              <a:t>0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16002000" y="640080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Catastrophic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failures (0% cells)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22402800" y="5394960"/>
            <a:ext cx="45712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2b6cb0"/>
                </a:solidFill>
                <a:latin typeface="Arial"/>
                <a:ea typeface="Arial"/>
              </a:rPr>
              <a:t>0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22402800" y="640080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Additional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Calibri"/>
                <a:ea typeface="Calibri"/>
              </a:rPr>
              <a:t>training cost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731520" y="7589520"/>
            <a:ext cx="14172480" cy="56685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14"/>
          <p:cNvSpPr/>
          <p:nvPr/>
        </p:nvSpPr>
        <p:spPr>
          <a:xfrm>
            <a:off x="914400" y="7772400"/>
            <a:ext cx="13806720" cy="639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5"/>
          <p:cNvSpPr/>
          <p:nvPr/>
        </p:nvSpPr>
        <p:spPr>
          <a:xfrm>
            <a:off x="1051560" y="784548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1554480" y="7845480"/>
            <a:ext cx="1302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Abstract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1097280" y="8595360"/>
            <a:ext cx="134409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100" spc="-1" strike="noStrike">
                <a:latin typeface="Calibri"/>
                <a:ea typeface="Calibri"/>
              </a:rPr>
              <a:t>Deep reinforcement learning (DRL) enables mapless mobile robot navigation from local sensory observations, but reactive policies can still fail catastrophically in trap-like layouts where reaching the goal requires temporarily moving away from it. In our IR-SIM benchmark, a CNNTD3 baseline achieves 87% success in the standard environment but 0% in the U-trap scenario. We identify an exploration-precision conflict: exploration reward improves U-trap escape but destroys narrow-door precision, while annealing restores precision but loses escape behavior. To address this, we propose Stall-Triggered Policy Switching (STPS), a training-free runtime mechanism that switches between a precision policy and an exploration policy only when stagnation or oscillation is detected. Across four hard scenarios and three seeds, STPS improves scenario-average success from 67% to 94% while preserving standard-environment performance at 88%.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15361920" y="7589520"/>
            <a:ext cx="14172480" cy="56685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19"/>
          <p:cNvSpPr/>
          <p:nvPr/>
        </p:nvSpPr>
        <p:spPr>
          <a:xfrm>
            <a:off x="15544800" y="7772400"/>
            <a:ext cx="13806720" cy="639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20"/>
          <p:cNvSpPr/>
          <p:nvPr/>
        </p:nvSpPr>
        <p:spPr>
          <a:xfrm>
            <a:off x="15681960" y="784548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16184880" y="7845480"/>
            <a:ext cx="1302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Key finding: exploration-precision conflict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15727680" y="8595360"/>
            <a:ext cx="134409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76749"/>
                </a:solidFill>
                <a:latin typeface="Calibri"/>
                <a:ea typeface="Calibri"/>
              </a:rPr>
              <a:t>Exploration bonus </a:t>
            </a:r>
            <a:r>
              <a:rPr b="0" lang="en-US" sz="1800" spc="-1" strike="noStrike">
                <a:solidFill>
                  <a:srgbClr val="4a5568"/>
                </a:solidFill>
                <a:latin typeface="Calibri"/>
                <a:ea typeface="Calibri"/>
              </a:rPr>
              <a:t>fixes U-trap (0→83%) but </a:t>
            </a:r>
            <a:r>
              <a:rPr b="1" lang="en-US" sz="1800" spc="-1" strike="noStrike">
                <a:solidFill>
                  <a:srgbClr val="c53030"/>
                </a:solidFill>
                <a:latin typeface="Calibri"/>
                <a:ea typeface="Calibri"/>
              </a:rPr>
              <a:t>destroys narrow door (100→0%).</a:t>
            </a:r>
            <a:r>
              <a:rPr b="0" lang="en-US" sz="1800" spc="-1" strike="noStrike">
                <a:solidFill>
                  <a:srgbClr val="4a5568"/>
                </a:solidFill>
                <a:latin typeface="Calibri"/>
                <a:ea typeface="Calibri"/>
              </a:rPr>
              <a:t> Annealing recovers narrow door but loses U-trap. Irreconcilable.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16002000" y="9829800"/>
            <a:ext cx="4476600" cy="5112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Method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20479320" y="9829800"/>
            <a:ext cx="2046240" cy="5112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Std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" name="Text 25"/>
          <p:cNvSpPr/>
          <p:nvPr/>
        </p:nvSpPr>
        <p:spPr>
          <a:xfrm>
            <a:off x="22526280" y="9829800"/>
            <a:ext cx="2045880" cy="5112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U-trap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24573240" y="9829800"/>
            <a:ext cx="2046240" cy="5112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Narrow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Text 27"/>
          <p:cNvSpPr/>
          <p:nvPr/>
        </p:nvSpPr>
        <p:spPr>
          <a:xfrm>
            <a:off x="26620200" y="9829800"/>
            <a:ext cx="2045880" cy="5112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Avg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0" name="Text 28"/>
          <p:cNvSpPr/>
          <p:nvPr/>
        </p:nvSpPr>
        <p:spPr>
          <a:xfrm>
            <a:off x="16002000" y="10342080"/>
            <a:ext cx="447660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Baseline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1" name="Text 29"/>
          <p:cNvSpPr/>
          <p:nvPr/>
        </p:nvSpPr>
        <p:spPr>
          <a:xfrm>
            <a:off x="20479320" y="10342080"/>
            <a:ext cx="204624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87%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2" name="Text 30"/>
          <p:cNvSpPr/>
          <p:nvPr/>
        </p:nvSpPr>
        <p:spPr>
          <a:xfrm>
            <a:off x="22526280" y="10342080"/>
            <a:ext cx="204588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3" name="Text 31"/>
          <p:cNvSpPr/>
          <p:nvPr/>
        </p:nvSpPr>
        <p:spPr>
          <a:xfrm>
            <a:off x="24573240" y="10342080"/>
            <a:ext cx="204624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6749"/>
                </a:solidFill>
                <a:latin typeface="Arial"/>
                <a:ea typeface="Arial"/>
              </a:rPr>
              <a:t>100%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26620200" y="10342080"/>
            <a:ext cx="204588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67%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5" name="Text 33"/>
          <p:cNvSpPr/>
          <p:nvPr/>
        </p:nvSpPr>
        <p:spPr>
          <a:xfrm>
            <a:off x="16002000" y="10854000"/>
            <a:ext cx="4476600" cy="51156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Curriculum only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6" name="Text 34"/>
          <p:cNvSpPr/>
          <p:nvPr/>
        </p:nvSpPr>
        <p:spPr>
          <a:xfrm>
            <a:off x="20479320" y="10854000"/>
            <a:ext cx="2046240" cy="51156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74%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" name="Text 35"/>
          <p:cNvSpPr/>
          <p:nvPr/>
        </p:nvSpPr>
        <p:spPr>
          <a:xfrm>
            <a:off x="22526280" y="10854000"/>
            <a:ext cx="2045880" cy="51156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8" name="Text 36"/>
          <p:cNvSpPr/>
          <p:nvPr/>
        </p:nvSpPr>
        <p:spPr>
          <a:xfrm>
            <a:off x="24573240" y="10854000"/>
            <a:ext cx="2046240" cy="51156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8%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Text 37"/>
          <p:cNvSpPr/>
          <p:nvPr/>
        </p:nvSpPr>
        <p:spPr>
          <a:xfrm>
            <a:off x="26620200" y="10854000"/>
            <a:ext cx="2045880" cy="51156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52%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0" name="Text 38"/>
          <p:cNvSpPr/>
          <p:nvPr/>
        </p:nvSpPr>
        <p:spPr>
          <a:xfrm>
            <a:off x="16002000" y="11365920"/>
            <a:ext cx="447660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Exploration (πE)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20479320" y="11365920"/>
            <a:ext cx="204624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2" name="Text 40"/>
          <p:cNvSpPr/>
          <p:nvPr/>
        </p:nvSpPr>
        <p:spPr>
          <a:xfrm>
            <a:off x="22526280" y="11365920"/>
            <a:ext cx="204588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6749"/>
                </a:solidFill>
                <a:latin typeface="Arial"/>
                <a:ea typeface="Arial"/>
              </a:rPr>
              <a:t>83%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24573240" y="11365920"/>
            <a:ext cx="204624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4" name="Text 42"/>
          <p:cNvSpPr/>
          <p:nvPr/>
        </p:nvSpPr>
        <p:spPr>
          <a:xfrm>
            <a:off x="26620200" y="11365920"/>
            <a:ext cx="2045880" cy="511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71%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" name="Text 43"/>
          <p:cNvSpPr/>
          <p:nvPr/>
        </p:nvSpPr>
        <p:spPr>
          <a:xfrm>
            <a:off x="16002000" y="11878200"/>
            <a:ext cx="4476600" cy="511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Annealed (πP)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6" name="Text 44"/>
          <p:cNvSpPr/>
          <p:nvPr/>
        </p:nvSpPr>
        <p:spPr>
          <a:xfrm>
            <a:off x="20479320" y="11878200"/>
            <a:ext cx="2046240" cy="511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82%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ext 45"/>
          <p:cNvSpPr/>
          <p:nvPr/>
        </p:nvSpPr>
        <p:spPr>
          <a:xfrm>
            <a:off x="22526280" y="11878200"/>
            <a:ext cx="2045880" cy="511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53030"/>
                </a:solidFill>
                <a:latin typeface="Arial"/>
                <a:ea typeface="Arial"/>
              </a:rPr>
              <a:t>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8" name="Text 46"/>
          <p:cNvSpPr/>
          <p:nvPr/>
        </p:nvSpPr>
        <p:spPr>
          <a:xfrm>
            <a:off x="24573240" y="11878200"/>
            <a:ext cx="2046240" cy="511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6749"/>
                </a:solidFill>
                <a:latin typeface="Arial"/>
                <a:ea typeface="Arial"/>
              </a:rPr>
              <a:t>100%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9" name="Text 47"/>
          <p:cNvSpPr/>
          <p:nvPr/>
        </p:nvSpPr>
        <p:spPr>
          <a:xfrm>
            <a:off x="26620200" y="11878200"/>
            <a:ext cx="2045880" cy="5112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38160" tIns="381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75%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0" name="Text 48"/>
          <p:cNvSpPr/>
          <p:nvPr/>
        </p:nvSpPr>
        <p:spPr>
          <a:xfrm>
            <a:off x="16002000" y="12512160"/>
            <a:ext cx="126640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53030"/>
                </a:solidFill>
                <a:latin typeface="Calibri"/>
                <a:ea typeface="Calibri"/>
              </a:rPr>
              <a:t>No single policy avoids all 0% cells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1" name="Shape 49"/>
          <p:cNvSpPr/>
          <p:nvPr/>
        </p:nvSpPr>
        <p:spPr>
          <a:xfrm>
            <a:off x="731520" y="13624560"/>
            <a:ext cx="28802880" cy="5302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Shape 50"/>
          <p:cNvSpPr/>
          <p:nvPr/>
        </p:nvSpPr>
        <p:spPr>
          <a:xfrm>
            <a:off x="914400" y="13807440"/>
            <a:ext cx="28437120" cy="639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51"/>
          <p:cNvSpPr/>
          <p:nvPr/>
        </p:nvSpPr>
        <p:spPr>
          <a:xfrm>
            <a:off x="1051560" y="1388052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4" name="Text 52"/>
          <p:cNvSpPr/>
          <p:nvPr/>
        </p:nvSpPr>
        <p:spPr>
          <a:xfrm>
            <a:off x="1554480" y="13880520"/>
            <a:ext cx="276598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Method: Stall-Triggered Policy Switching (STPS)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5" name="Shape 53"/>
          <p:cNvSpPr/>
          <p:nvPr/>
        </p:nvSpPr>
        <p:spPr>
          <a:xfrm>
            <a:off x="5989320" y="14721840"/>
            <a:ext cx="6400080" cy="2010960"/>
          </a:xfrm>
          <a:prstGeom prst="roundRect">
            <a:avLst>
              <a:gd name="adj" fmla="val 9091"/>
            </a:avLst>
          </a:prstGeom>
          <a:solidFill>
            <a:srgbClr val="ebf8ff"/>
          </a:solidFill>
          <a:ln w="25400">
            <a:solidFill>
              <a:srgbClr val="2b6cb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4"/>
          <p:cNvSpPr/>
          <p:nvPr/>
        </p:nvSpPr>
        <p:spPr>
          <a:xfrm>
            <a:off x="5989320" y="1481328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b6cb0"/>
                </a:solidFill>
                <a:latin typeface="Arial"/>
                <a:ea typeface="Arial"/>
              </a:rPr>
              <a:t>Main mode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7" name="Text 55"/>
          <p:cNvSpPr/>
          <p:nvPr/>
        </p:nvSpPr>
        <p:spPr>
          <a:xfrm>
            <a:off x="6446520" y="1536192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Execute precision policy πP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(standard navigation)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8" name="Text 56"/>
          <p:cNvSpPr/>
          <p:nvPr/>
        </p:nvSpPr>
        <p:spPr>
          <a:xfrm>
            <a:off x="6903720" y="162763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6749"/>
                </a:solidFill>
                <a:latin typeface="Arial"/>
                <a:ea typeface="Arial"/>
              </a:rPr>
              <a:t>DEFAULT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9" name="Shape 57"/>
          <p:cNvSpPr/>
          <p:nvPr/>
        </p:nvSpPr>
        <p:spPr>
          <a:xfrm>
            <a:off x="17876520" y="14721840"/>
            <a:ext cx="6400080" cy="201096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25400">
            <a:solidFill>
              <a:srgbClr val="c5303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58"/>
          <p:cNvSpPr/>
          <p:nvPr/>
        </p:nvSpPr>
        <p:spPr>
          <a:xfrm>
            <a:off x="17876520" y="1481328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c53030"/>
                </a:solidFill>
                <a:latin typeface="Arial"/>
                <a:ea typeface="Arial"/>
              </a:rPr>
              <a:t>Escape mode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1" name="Text 59"/>
          <p:cNvSpPr/>
          <p:nvPr/>
        </p:nvSpPr>
        <p:spPr>
          <a:xfrm>
            <a:off x="18333720" y="1536192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Execute exploration policy πE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(novelty-seeking navigation)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60"/>
          <p:cNvSpPr/>
          <p:nvPr/>
        </p:nvSpPr>
        <p:spPr>
          <a:xfrm>
            <a:off x="18790920" y="162763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b7791f"/>
                </a:solidFill>
                <a:latin typeface="Arial"/>
                <a:ea typeface="Arial"/>
              </a:rPr>
              <a:t>TEMPORARY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3" name="Shape 61"/>
          <p:cNvSpPr/>
          <p:nvPr/>
        </p:nvSpPr>
        <p:spPr>
          <a:xfrm>
            <a:off x="12390120" y="15361920"/>
            <a:ext cx="5486400" cy="360"/>
          </a:xfrm>
          <a:prstGeom prst="line">
            <a:avLst/>
          </a:prstGeom>
          <a:ln w="25400">
            <a:solidFill>
              <a:srgbClr val="c5303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62"/>
          <p:cNvSpPr/>
          <p:nvPr/>
        </p:nvSpPr>
        <p:spPr>
          <a:xfrm>
            <a:off x="12847320" y="1408176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Stall: ‖xₜ − xₜ₋₂₀‖ &lt; 0.15m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OR oscillation ≥ 5 reversals/12 steps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Shape 63"/>
          <p:cNvSpPr/>
          <p:nvPr/>
        </p:nvSpPr>
        <p:spPr>
          <a:xfrm>
            <a:off x="12390120" y="16367760"/>
            <a:ext cx="5486400" cy="360"/>
          </a:xfrm>
          <a:prstGeom prst="line">
            <a:avLst/>
          </a:prstGeom>
          <a:ln w="25400">
            <a:solidFill>
              <a:srgbClr val="276749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64"/>
          <p:cNvSpPr/>
          <p:nvPr/>
        </p:nvSpPr>
        <p:spPr>
          <a:xfrm>
            <a:off x="12847320" y="1664208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Escaped: k ≥ 120 AND ‖xₜ − xsw‖ &gt; 0.5m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Shape 65"/>
          <p:cNvSpPr/>
          <p:nvPr/>
        </p:nvSpPr>
        <p:spPr>
          <a:xfrm>
            <a:off x="2103120" y="17373600"/>
            <a:ext cx="410760" cy="410760"/>
          </a:xfrm>
          <a:prstGeom prst="ellipse">
            <a:avLst/>
          </a:prstGeom>
          <a:solidFill>
            <a:srgbClr val="2b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66"/>
          <p:cNvSpPr/>
          <p:nvPr/>
        </p:nvSpPr>
        <p:spPr>
          <a:xfrm>
            <a:off x="2103120" y="17373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9" name="Text 67"/>
          <p:cNvSpPr/>
          <p:nvPr/>
        </p:nvSpPr>
        <p:spPr>
          <a:xfrm>
            <a:off x="2651760" y="1735524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365d"/>
                </a:solidFill>
                <a:latin typeface="Arial"/>
                <a:ea typeface="Arial"/>
              </a:rPr>
              <a:t>Zero training cost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0" name="Text 68"/>
          <p:cNvSpPr/>
          <p:nvPr/>
        </p:nvSpPr>
        <p:spPr>
          <a:xfrm>
            <a:off x="2651760" y="1757484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Both policies frozen; only runtime logic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1" name="Shape 69"/>
          <p:cNvSpPr/>
          <p:nvPr/>
        </p:nvSpPr>
        <p:spPr>
          <a:xfrm>
            <a:off x="11704320" y="17373600"/>
            <a:ext cx="410760" cy="410760"/>
          </a:xfrm>
          <a:prstGeom prst="ellipse">
            <a:avLst/>
          </a:prstGeom>
          <a:solidFill>
            <a:srgbClr val="2b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70"/>
          <p:cNvSpPr/>
          <p:nvPr/>
        </p:nvSpPr>
        <p:spPr>
          <a:xfrm>
            <a:off x="11704320" y="17373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3" name="Text 71"/>
          <p:cNvSpPr/>
          <p:nvPr/>
        </p:nvSpPr>
        <p:spPr>
          <a:xfrm>
            <a:off x="12252960" y="1735524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365d"/>
                </a:solidFill>
                <a:latin typeface="Arial"/>
                <a:ea typeface="Arial"/>
              </a:rPr>
              <a:t>Negligible overhead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4" name="Text 72"/>
          <p:cNvSpPr/>
          <p:nvPr/>
        </p:nvSpPr>
        <p:spPr>
          <a:xfrm>
            <a:off x="12252960" y="1757484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One distance check per step (&lt;0.1ms)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Shape 73"/>
          <p:cNvSpPr/>
          <p:nvPr/>
        </p:nvSpPr>
        <p:spPr>
          <a:xfrm>
            <a:off x="21305520" y="17373600"/>
            <a:ext cx="410760" cy="410760"/>
          </a:xfrm>
          <a:prstGeom prst="ellipse">
            <a:avLst/>
          </a:prstGeom>
          <a:solidFill>
            <a:srgbClr val="2b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74"/>
          <p:cNvSpPr/>
          <p:nvPr/>
        </p:nvSpPr>
        <p:spPr>
          <a:xfrm>
            <a:off x="21305520" y="173736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7" name="Text 75"/>
          <p:cNvSpPr/>
          <p:nvPr/>
        </p:nvSpPr>
        <p:spPr>
          <a:xfrm>
            <a:off x="21854160" y="1735524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365d"/>
                </a:solidFill>
                <a:latin typeface="Arial"/>
                <a:ea typeface="Arial"/>
              </a:rPr>
              <a:t>Real-robot ready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8" name="Text 76"/>
          <p:cNvSpPr/>
          <p:nvPr/>
        </p:nvSpPr>
        <p:spPr>
          <a:xfrm>
            <a:off x="21854160" y="1757484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Simple if-else, no GPU for switching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Shape 77"/>
          <p:cNvSpPr/>
          <p:nvPr/>
        </p:nvSpPr>
        <p:spPr>
          <a:xfrm>
            <a:off x="685800" y="19293840"/>
            <a:ext cx="28802880" cy="685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Shape 78"/>
          <p:cNvSpPr/>
          <p:nvPr/>
        </p:nvSpPr>
        <p:spPr>
          <a:xfrm>
            <a:off x="914400" y="19587600"/>
            <a:ext cx="28117080" cy="972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79"/>
          <p:cNvSpPr/>
          <p:nvPr/>
        </p:nvSpPr>
        <p:spPr>
          <a:xfrm>
            <a:off x="999360" y="19698480"/>
            <a:ext cx="28224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2" name="Text 80"/>
          <p:cNvSpPr/>
          <p:nvPr/>
        </p:nvSpPr>
        <p:spPr>
          <a:xfrm>
            <a:off x="1310400" y="19698480"/>
            <a:ext cx="1712088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Results: STPS outperforms all single policies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3" name="Text 81"/>
          <p:cNvSpPr/>
          <p:nvPr/>
        </p:nvSpPr>
        <p:spPr>
          <a:xfrm>
            <a:off x="1143000" y="20683800"/>
            <a:ext cx="270108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    </a:t>
            </a: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Method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4" name="Text 82"/>
          <p:cNvSpPr/>
          <p:nvPr/>
        </p:nvSpPr>
        <p:spPr>
          <a:xfrm>
            <a:off x="3844440" y="20683800"/>
            <a:ext cx="167220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Standard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(100 ep)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5" name="Text 83"/>
          <p:cNvSpPr/>
          <p:nvPr/>
        </p:nvSpPr>
        <p:spPr>
          <a:xfrm>
            <a:off x="5517720" y="20683800"/>
            <a:ext cx="167184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S1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U-trap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6" name="Text 84"/>
          <p:cNvSpPr/>
          <p:nvPr/>
        </p:nvSpPr>
        <p:spPr>
          <a:xfrm>
            <a:off x="7190280" y="20683800"/>
            <a:ext cx="167184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S2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Double-U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" name="Text 85"/>
          <p:cNvSpPr/>
          <p:nvPr/>
        </p:nvSpPr>
        <p:spPr>
          <a:xfrm>
            <a:off x="8862480" y="20683800"/>
            <a:ext cx="192996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S3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Narrow door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8" name="Text 86"/>
          <p:cNvSpPr/>
          <p:nvPr/>
        </p:nvSpPr>
        <p:spPr>
          <a:xfrm>
            <a:off x="10792800" y="20683800"/>
            <a:ext cx="167220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S5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Corridor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9" name="Text 87"/>
          <p:cNvSpPr/>
          <p:nvPr/>
        </p:nvSpPr>
        <p:spPr>
          <a:xfrm>
            <a:off x="12465360" y="20683800"/>
            <a:ext cx="1478880" cy="75852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Scenario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avg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0" name="Text 88"/>
          <p:cNvSpPr/>
          <p:nvPr/>
        </p:nvSpPr>
        <p:spPr>
          <a:xfrm>
            <a:off x="1143000" y="21443040"/>
            <a:ext cx="270108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   </a:t>
            </a: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CNNTD3 baseline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ext 89"/>
          <p:cNvSpPr/>
          <p:nvPr/>
        </p:nvSpPr>
        <p:spPr>
          <a:xfrm>
            <a:off x="3844440" y="21443040"/>
            <a:ext cx="167220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87%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2" name="Text 90"/>
          <p:cNvSpPr/>
          <p:nvPr/>
        </p:nvSpPr>
        <p:spPr>
          <a:xfrm>
            <a:off x="5517720" y="21443040"/>
            <a:ext cx="167184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3" name="Text 91"/>
          <p:cNvSpPr/>
          <p:nvPr/>
        </p:nvSpPr>
        <p:spPr>
          <a:xfrm>
            <a:off x="7190280" y="21443040"/>
            <a:ext cx="167184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69 ± 4%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4" name="Text 92"/>
          <p:cNvSpPr/>
          <p:nvPr/>
        </p:nvSpPr>
        <p:spPr>
          <a:xfrm>
            <a:off x="8862480" y="21443040"/>
            <a:ext cx="192996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5" name="Text 93"/>
          <p:cNvSpPr/>
          <p:nvPr/>
        </p:nvSpPr>
        <p:spPr>
          <a:xfrm>
            <a:off x="10792800" y="21443040"/>
            <a:ext cx="167220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6" name="Text 94"/>
          <p:cNvSpPr/>
          <p:nvPr/>
        </p:nvSpPr>
        <p:spPr>
          <a:xfrm>
            <a:off x="12465360" y="21443040"/>
            <a:ext cx="147888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67%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7" name="Text 95"/>
          <p:cNvSpPr/>
          <p:nvPr/>
        </p:nvSpPr>
        <p:spPr>
          <a:xfrm>
            <a:off x="1143000" y="22201920"/>
            <a:ext cx="270108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   </a:t>
            </a: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RCPG (GRU)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8" name="Text 96"/>
          <p:cNvSpPr/>
          <p:nvPr/>
        </p:nvSpPr>
        <p:spPr>
          <a:xfrm>
            <a:off x="3844440" y="22201920"/>
            <a:ext cx="167220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88%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9" name="Text 97"/>
          <p:cNvSpPr/>
          <p:nvPr/>
        </p:nvSpPr>
        <p:spPr>
          <a:xfrm>
            <a:off x="5517720" y="22201920"/>
            <a:ext cx="167184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Text 98"/>
          <p:cNvSpPr/>
          <p:nvPr/>
        </p:nvSpPr>
        <p:spPr>
          <a:xfrm>
            <a:off x="7190280" y="22201920"/>
            <a:ext cx="167184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 99"/>
          <p:cNvSpPr/>
          <p:nvPr/>
        </p:nvSpPr>
        <p:spPr>
          <a:xfrm>
            <a:off x="8862480" y="22201920"/>
            <a:ext cx="192996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75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 100"/>
          <p:cNvSpPr/>
          <p:nvPr/>
        </p:nvSpPr>
        <p:spPr>
          <a:xfrm>
            <a:off x="10792800" y="22201920"/>
            <a:ext cx="167220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 101"/>
          <p:cNvSpPr/>
          <p:nvPr/>
        </p:nvSpPr>
        <p:spPr>
          <a:xfrm>
            <a:off x="12465360" y="22201920"/>
            <a:ext cx="147888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44%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 102"/>
          <p:cNvSpPr/>
          <p:nvPr/>
        </p:nvSpPr>
        <p:spPr>
          <a:xfrm>
            <a:off x="1143000" y="22960800"/>
            <a:ext cx="270108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   </a:t>
            </a: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Curriculum only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5" name="Text 103"/>
          <p:cNvSpPr/>
          <p:nvPr/>
        </p:nvSpPr>
        <p:spPr>
          <a:xfrm>
            <a:off x="3844440" y="22960800"/>
            <a:ext cx="167220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74%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6" name="Text 104"/>
          <p:cNvSpPr/>
          <p:nvPr/>
        </p:nvSpPr>
        <p:spPr>
          <a:xfrm>
            <a:off x="5517720" y="22960800"/>
            <a:ext cx="167184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7" name="Text 105"/>
          <p:cNvSpPr/>
          <p:nvPr/>
        </p:nvSpPr>
        <p:spPr>
          <a:xfrm>
            <a:off x="7190280" y="22960800"/>
            <a:ext cx="167184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8" name="Text 106"/>
          <p:cNvSpPr/>
          <p:nvPr/>
        </p:nvSpPr>
        <p:spPr>
          <a:xfrm>
            <a:off x="8862480" y="22960800"/>
            <a:ext cx="192996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8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Text 107"/>
          <p:cNvSpPr/>
          <p:nvPr/>
        </p:nvSpPr>
        <p:spPr>
          <a:xfrm>
            <a:off x="10792800" y="22960800"/>
            <a:ext cx="167220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0" name="Text 108"/>
          <p:cNvSpPr/>
          <p:nvPr/>
        </p:nvSpPr>
        <p:spPr>
          <a:xfrm>
            <a:off x="12465360" y="22960800"/>
            <a:ext cx="1478880" cy="758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52%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 109"/>
          <p:cNvSpPr/>
          <p:nvPr/>
        </p:nvSpPr>
        <p:spPr>
          <a:xfrm>
            <a:off x="1143000" y="23720040"/>
            <a:ext cx="270108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   </a:t>
            </a: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Exploration (πE)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Text 110"/>
          <p:cNvSpPr/>
          <p:nvPr/>
        </p:nvSpPr>
        <p:spPr>
          <a:xfrm>
            <a:off x="3844440" y="23720040"/>
            <a:ext cx="167220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80%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3" name="Text 111"/>
          <p:cNvSpPr/>
          <p:nvPr/>
        </p:nvSpPr>
        <p:spPr>
          <a:xfrm>
            <a:off x="5517720" y="23720040"/>
            <a:ext cx="167184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83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4" name="Text 112"/>
          <p:cNvSpPr/>
          <p:nvPr/>
        </p:nvSpPr>
        <p:spPr>
          <a:xfrm>
            <a:off x="7190280" y="23720040"/>
            <a:ext cx="167184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5" name="Text 113"/>
          <p:cNvSpPr/>
          <p:nvPr/>
        </p:nvSpPr>
        <p:spPr>
          <a:xfrm>
            <a:off x="8862480" y="23720040"/>
            <a:ext cx="192996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6" name="Text 114"/>
          <p:cNvSpPr/>
          <p:nvPr/>
        </p:nvSpPr>
        <p:spPr>
          <a:xfrm>
            <a:off x="10792800" y="23720040"/>
            <a:ext cx="1672200" cy="75816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7" name="Text 115"/>
          <p:cNvSpPr/>
          <p:nvPr/>
        </p:nvSpPr>
        <p:spPr>
          <a:xfrm>
            <a:off x="12465360" y="23719680"/>
            <a:ext cx="1478880" cy="7574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71%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8" name="Text 116"/>
          <p:cNvSpPr/>
          <p:nvPr/>
        </p:nvSpPr>
        <p:spPr>
          <a:xfrm>
            <a:off x="1143000" y="24479280"/>
            <a:ext cx="270108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  </a:t>
            </a: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Annealed (πP)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9" name="Text 117"/>
          <p:cNvSpPr/>
          <p:nvPr/>
        </p:nvSpPr>
        <p:spPr>
          <a:xfrm>
            <a:off x="3844440" y="24479280"/>
            <a:ext cx="167220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82%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0" name="Text 118"/>
          <p:cNvSpPr/>
          <p:nvPr/>
        </p:nvSpPr>
        <p:spPr>
          <a:xfrm>
            <a:off x="5517720" y="24479280"/>
            <a:ext cx="167184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1" name="Text 119"/>
          <p:cNvSpPr/>
          <p:nvPr/>
        </p:nvSpPr>
        <p:spPr>
          <a:xfrm>
            <a:off x="7190280" y="24479280"/>
            <a:ext cx="167184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2" name="Text 120"/>
          <p:cNvSpPr/>
          <p:nvPr/>
        </p:nvSpPr>
        <p:spPr>
          <a:xfrm>
            <a:off x="8862480" y="24479280"/>
            <a:ext cx="192996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3" name="Text 121"/>
          <p:cNvSpPr/>
          <p:nvPr/>
        </p:nvSpPr>
        <p:spPr>
          <a:xfrm>
            <a:off x="10792800" y="24479280"/>
            <a:ext cx="167220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4" name="Text 122"/>
          <p:cNvSpPr/>
          <p:nvPr/>
        </p:nvSpPr>
        <p:spPr>
          <a:xfrm>
            <a:off x="12465360" y="24479280"/>
            <a:ext cx="1478880" cy="757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a5568"/>
                </a:solidFill>
                <a:latin typeface="Arial"/>
                <a:ea typeface="Arial"/>
              </a:rPr>
              <a:t>75%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5" name="Text 123"/>
          <p:cNvSpPr/>
          <p:nvPr/>
        </p:nvSpPr>
        <p:spPr>
          <a:xfrm>
            <a:off x="1143000" y="25237800"/>
            <a:ext cx="270108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  </a:t>
            </a: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STPS v2 (ours)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6" name="Text 124"/>
          <p:cNvSpPr/>
          <p:nvPr/>
        </p:nvSpPr>
        <p:spPr>
          <a:xfrm>
            <a:off x="3844440" y="25237800"/>
            <a:ext cx="167220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88%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Text 125"/>
          <p:cNvSpPr/>
          <p:nvPr/>
        </p:nvSpPr>
        <p:spPr>
          <a:xfrm>
            <a:off x="5517720" y="25237800"/>
            <a:ext cx="167184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75 ± 7%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8" name="Text 126"/>
          <p:cNvSpPr/>
          <p:nvPr/>
        </p:nvSpPr>
        <p:spPr>
          <a:xfrm>
            <a:off x="7190280" y="25237800"/>
            <a:ext cx="167184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9" name="Text 127"/>
          <p:cNvSpPr/>
          <p:nvPr/>
        </p:nvSpPr>
        <p:spPr>
          <a:xfrm>
            <a:off x="8862480" y="25237800"/>
            <a:ext cx="192996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0" name="Text 128"/>
          <p:cNvSpPr/>
          <p:nvPr/>
        </p:nvSpPr>
        <p:spPr>
          <a:xfrm>
            <a:off x="10792800" y="25237800"/>
            <a:ext cx="167220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100 ± 0%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1" name="Text 129"/>
          <p:cNvSpPr/>
          <p:nvPr/>
        </p:nvSpPr>
        <p:spPr>
          <a:xfrm>
            <a:off x="12465360" y="25237800"/>
            <a:ext cx="1478880" cy="758520"/>
          </a:xfrm>
          <a:prstGeom prst="rect">
            <a:avLst/>
          </a:prstGeom>
          <a:solidFill>
            <a:srgbClr val="ebf8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38160" tIns="6336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b6cb0"/>
                </a:solidFill>
                <a:latin typeface="Arial"/>
                <a:ea typeface="Arial"/>
              </a:rPr>
              <a:t>94%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2" name="Text 130"/>
          <p:cNvSpPr/>
          <p:nvPr/>
        </p:nvSpPr>
        <p:spPr>
          <a:xfrm>
            <a:off x="-694440" y="25844040"/>
            <a:ext cx="1669608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3 seeds × 12 perturbed starts. STPS is the only method without any 0% catastrophic failure.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73" name="Image 1" descr="/home/claude/poster_imgs/barchart.png"/>
          <p:cNvPicPr/>
          <p:nvPr/>
        </p:nvPicPr>
        <p:blipFill>
          <a:blip r:embed="rId1"/>
          <a:stretch/>
        </p:blipFill>
        <p:spPr>
          <a:xfrm rot="9600">
            <a:off x="14637240" y="20664000"/>
            <a:ext cx="14385960" cy="5466240"/>
          </a:xfrm>
          <a:prstGeom prst="rect">
            <a:avLst/>
          </a:prstGeom>
          <a:ln w="0">
            <a:noFill/>
          </a:ln>
        </p:spPr>
      </p:pic>
      <p:sp>
        <p:nvSpPr>
          <p:cNvPr id="174" name="Shape 131"/>
          <p:cNvSpPr/>
          <p:nvPr/>
        </p:nvSpPr>
        <p:spPr>
          <a:xfrm>
            <a:off x="731520" y="26517600"/>
            <a:ext cx="28802880" cy="5302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Shape 132"/>
          <p:cNvSpPr/>
          <p:nvPr/>
        </p:nvSpPr>
        <p:spPr>
          <a:xfrm>
            <a:off x="914400" y="26700480"/>
            <a:ext cx="28437120" cy="639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33"/>
          <p:cNvSpPr/>
          <p:nvPr/>
        </p:nvSpPr>
        <p:spPr>
          <a:xfrm>
            <a:off x="777240" y="26700480"/>
            <a:ext cx="105120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7" name="Text 134"/>
          <p:cNvSpPr/>
          <p:nvPr/>
        </p:nvSpPr>
        <p:spPr>
          <a:xfrm>
            <a:off x="1554480" y="26773560"/>
            <a:ext cx="276598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Success and failure case analysis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78" name="Image 2" descr="/home/claude/poster_imgs/1.png"/>
          <p:cNvPicPr/>
          <p:nvPr/>
        </p:nvPicPr>
        <p:blipFill>
          <a:blip r:embed="rId2"/>
          <a:stretch/>
        </p:blipFill>
        <p:spPr>
          <a:xfrm>
            <a:off x="1280160" y="27523440"/>
            <a:ext cx="4342680" cy="4342680"/>
          </a:xfrm>
          <a:prstGeom prst="rect">
            <a:avLst/>
          </a:prstGeom>
          <a:ln w="0">
            <a:noFill/>
          </a:ln>
        </p:spPr>
      </p:pic>
      <p:sp>
        <p:nvSpPr>
          <p:cNvPr id="179" name="Text 135"/>
          <p:cNvSpPr/>
          <p:nvPr/>
        </p:nvSpPr>
        <p:spPr>
          <a:xfrm>
            <a:off x="1143000" y="31820760"/>
            <a:ext cx="4525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Failure: Baseline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in U-trap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SR = 0%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80" name="Image 3" descr="/home/claude/poster_imgs/2.png"/>
          <p:cNvPicPr/>
          <p:nvPr/>
        </p:nvPicPr>
        <p:blipFill>
          <a:blip r:embed="rId3"/>
          <a:stretch/>
        </p:blipFill>
        <p:spPr>
          <a:xfrm>
            <a:off x="5916240" y="27523440"/>
            <a:ext cx="4342680" cy="4342680"/>
          </a:xfrm>
          <a:prstGeom prst="rect">
            <a:avLst/>
          </a:prstGeom>
          <a:ln w="0">
            <a:noFill/>
          </a:ln>
        </p:spPr>
      </p:pic>
      <p:sp>
        <p:nvSpPr>
          <p:cNvPr id="181" name="Text 136"/>
          <p:cNvSpPr/>
          <p:nvPr/>
        </p:nvSpPr>
        <p:spPr>
          <a:xfrm>
            <a:off x="5623200" y="31820760"/>
            <a:ext cx="4525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Failure: πE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in narrow door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c53030"/>
                </a:solidFill>
                <a:latin typeface="Calibri"/>
                <a:ea typeface="Calibri"/>
              </a:rPr>
              <a:t>SR = 0%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82" name="Image 4" descr="/home/claude/poster_imgs/3.png"/>
          <p:cNvPicPr/>
          <p:nvPr/>
        </p:nvPicPr>
        <p:blipFill>
          <a:blip r:embed="rId4"/>
          <a:stretch/>
        </p:blipFill>
        <p:spPr>
          <a:xfrm>
            <a:off x="10552320" y="27523440"/>
            <a:ext cx="4342680" cy="4342680"/>
          </a:xfrm>
          <a:prstGeom prst="rect">
            <a:avLst/>
          </a:prstGeom>
          <a:ln w="0">
            <a:noFill/>
          </a:ln>
        </p:spPr>
      </p:pic>
      <p:sp>
        <p:nvSpPr>
          <p:cNvPr id="183" name="Text 137"/>
          <p:cNvSpPr/>
          <p:nvPr/>
        </p:nvSpPr>
        <p:spPr>
          <a:xfrm>
            <a:off x="10515600" y="31867200"/>
            <a:ext cx="4525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b7791f"/>
                </a:solidFill>
                <a:latin typeface="Calibri"/>
                <a:ea typeface="Calibri"/>
              </a:rPr>
              <a:t>Failure: Annealed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b7791f"/>
                </a:solidFill>
                <a:latin typeface="Calibri"/>
                <a:ea typeface="Calibri"/>
              </a:rPr>
              <a:t>U-trap reverts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b7791f"/>
                </a:solidFill>
                <a:latin typeface="Calibri"/>
                <a:ea typeface="Calibri"/>
              </a:rPr>
              <a:t>SR = 0%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84" name="Image 5" descr="/home/claude/poster_imgs/4.png"/>
          <p:cNvPicPr/>
          <p:nvPr/>
        </p:nvPicPr>
        <p:blipFill>
          <a:blip r:embed="rId5"/>
          <a:stretch/>
        </p:blipFill>
        <p:spPr>
          <a:xfrm>
            <a:off x="15188040" y="27523440"/>
            <a:ext cx="4342680" cy="4342680"/>
          </a:xfrm>
          <a:prstGeom prst="rect">
            <a:avLst/>
          </a:prstGeom>
          <a:ln w="0">
            <a:noFill/>
          </a:ln>
        </p:spPr>
      </p:pic>
      <p:sp>
        <p:nvSpPr>
          <p:cNvPr id="185" name="Text 138"/>
          <p:cNvSpPr/>
          <p:nvPr/>
        </p:nvSpPr>
        <p:spPr>
          <a:xfrm>
            <a:off x="15041520" y="32004000"/>
            <a:ext cx="4525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Success: STPS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U-trap escape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SR = 75%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86" name="Image 6" descr="/home/claude/poster_imgs/5.png"/>
          <p:cNvPicPr/>
          <p:nvPr/>
        </p:nvPicPr>
        <p:blipFill>
          <a:blip r:embed="rId6"/>
          <a:stretch/>
        </p:blipFill>
        <p:spPr>
          <a:xfrm>
            <a:off x="19824120" y="27523440"/>
            <a:ext cx="4342680" cy="4342680"/>
          </a:xfrm>
          <a:prstGeom prst="rect">
            <a:avLst/>
          </a:prstGeom>
          <a:ln w="0">
            <a:noFill/>
          </a:ln>
        </p:spPr>
      </p:pic>
      <p:sp>
        <p:nvSpPr>
          <p:cNvPr id="187" name="Text 139"/>
          <p:cNvSpPr/>
          <p:nvPr/>
        </p:nvSpPr>
        <p:spPr>
          <a:xfrm>
            <a:off x="19705680" y="31867200"/>
            <a:ext cx="4525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Success: STPS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narrow door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SR = 100%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88" name="Image 7" descr="/home/claude/poster_imgs/6.png"/>
          <p:cNvPicPr/>
          <p:nvPr/>
        </p:nvPicPr>
        <p:blipFill>
          <a:blip r:embed="rId7"/>
          <a:stretch/>
        </p:blipFill>
        <p:spPr>
          <a:xfrm>
            <a:off x="24460200" y="27523440"/>
            <a:ext cx="4342680" cy="4342680"/>
          </a:xfrm>
          <a:prstGeom prst="rect">
            <a:avLst/>
          </a:prstGeom>
          <a:ln w="0">
            <a:noFill/>
          </a:ln>
        </p:spPr>
      </p:pic>
      <p:sp>
        <p:nvSpPr>
          <p:cNvPr id="189" name="Text 140"/>
          <p:cNvSpPr/>
          <p:nvPr/>
        </p:nvSpPr>
        <p:spPr>
          <a:xfrm>
            <a:off x="24277680" y="32004000"/>
            <a:ext cx="4525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Success: STPS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std env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6749"/>
                </a:solidFill>
                <a:latin typeface="Calibri"/>
                <a:ea typeface="Calibri"/>
              </a:rPr>
              <a:t>SR = 88%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0" name="Shape 141"/>
          <p:cNvSpPr/>
          <p:nvPr/>
        </p:nvSpPr>
        <p:spPr>
          <a:xfrm>
            <a:off x="731520" y="33446880"/>
            <a:ext cx="14172480" cy="47541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Shape 142"/>
          <p:cNvSpPr/>
          <p:nvPr/>
        </p:nvSpPr>
        <p:spPr>
          <a:xfrm>
            <a:off x="914400" y="33629760"/>
            <a:ext cx="13806720" cy="639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43"/>
          <p:cNvSpPr/>
          <p:nvPr/>
        </p:nvSpPr>
        <p:spPr>
          <a:xfrm>
            <a:off x="1051560" y="3370284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3" name="Text 144"/>
          <p:cNvSpPr/>
          <p:nvPr/>
        </p:nvSpPr>
        <p:spPr>
          <a:xfrm>
            <a:off x="1554480" y="33702840"/>
            <a:ext cx="1302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Parameter sensitivity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4" name="Text 145"/>
          <p:cNvSpPr/>
          <p:nvPr/>
        </p:nvSpPr>
        <p:spPr>
          <a:xfrm>
            <a:off x="1188720" y="34452720"/>
            <a:ext cx="13258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U-trap SR (%) / Narrow-door SR (%)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Calibri"/>
                <a:ea typeface="Calibri"/>
              </a:rPr>
              <a:t>K=120, δ_prog=0.5m fixed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5" name="Text 146"/>
          <p:cNvSpPr/>
          <p:nvPr/>
        </p:nvSpPr>
        <p:spPr>
          <a:xfrm>
            <a:off x="1645920" y="3518424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47"/>
          <p:cNvSpPr/>
          <p:nvPr/>
        </p:nvSpPr>
        <p:spPr>
          <a:xfrm>
            <a:off x="4617720" y="3518424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δ=0.10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7" name="Text 148"/>
          <p:cNvSpPr/>
          <p:nvPr/>
        </p:nvSpPr>
        <p:spPr>
          <a:xfrm>
            <a:off x="7589520" y="3518424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δ=0.15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8" name="Text 149"/>
          <p:cNvSpPr/>
          <p:nvPr/>
        </p:nvSpPr>
        <p:spPr>
          <a:xfrm>
            <a:off x="10561320" y="3518424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δ=0.20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9" name="Text 150"/>
          <p:cNvSpPr/>
          <p:nvPr/>
        </p:nvSpPr>
        <p:spPr>
          <a:xfrm>
            <a:off x="1645920" y="3559572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W=15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0" name="Text 151"/>
          <p:cNvSpPr/>
          <p:nvPr/>
        </p:nvSpPr>
        <p:spPr>
          <a:xfrm>
            <a:off x="4617720" y="35595720"/>
            <a:ext cx="29710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42/100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1" name="Text 152"/>
          <p:cNvSpPr/>
          <p:nvPr/>
        </p:nvSpPr>
        <p:spPr>
          <a:xfrm>
            <a:off x="7589520" y="35595720"/>
            <a:ext cx="29710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42/100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2" name="Text 153"/>
          <p:cNvSpPr/>
          <p:nvPr/>
        </p:nvSpPr>
        <p:spPr>
          <a:xfrm>
            <a:off x="10561320" y="35595720"/>
            <a:ext cx="29710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67/100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3" name="Text 154"/>
          <p:cNvSpPr/>
          <p:nvPr/>
        </p:nvSpPr>
        <p:spPr>
          <a:xfrm>
            <a:off x="1645920" y="3600720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W=20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4" name="Text 155"/>
          <p:cNvSpPr/>
          <p:nvPr/>
        </p:nvSpPr>
        <p:spPr>
          <a:xfrm>
            <a:off x="4617720" y="36007200"/>
            <a:ext cx="2971080" cy="41076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5" name="Text 156"/>
          <p:cNvSpPr/>
          <p:nvPr/>
        </p:nvSpPr>
        <p:spPr>
          <a:xfrm>
            <a:off x="7589520" y="36007200"/>
            <a:ext cx="2971080" cy="41076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6" name="Text 157"/>
          <p:cNvSpPr/>
          <p:nvPr/>
        </p:nvSpPr>
        <p:spPr>
          <a:xfrm>
            <a:off x="10561320" y="36007200"/>
            <a:ext cx="2971080" cy="41076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6749"/>
                </a:solidFill>
                <a:latin typeface="Arial"/>
                <a:ea typeface="Arial"/>
              </a:rPr>
              <a:t>67/100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7" name="Text 158"/>
          <p:cNvSpPr/>
          <p:nvPr/>
        </p:nvSpPr>
        <p:spPr>
          <a:xfrm>
            <a:off x="1645920" y="36418680"/>
            <a:ext cx="2971080" cy="410760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W=30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8" name="Text 159"/>
          <p:cNvSpPr/>
          <p:nvPr/>
        </p:nvSpPr>
        <p:spPr>
          <a:xfrm>
            <a:off x="4617720" y="36418680"/>
            <a:ext cx="29710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0/100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9" name="Text 160"/>
          <p:cNvSpPr/>
          <p:nvPr/>
        </p:nvSpPr>
        <p:spPr>
          <a:xfrm>
            <a:off x="7589520" y="36418680"/>
            <a:ext cx="29710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17/100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0" name="Text 161"/>
          <p:cNvSpPr/>
          <p:nvPr/>
        </p:nvSpPr>
        <p:spPr>
          <a:xfrm>
            <a:off x="10561320" y="36418680"/>
            <a:ext cx="2971080" cy="410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25/100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1" name="Text 162"/>
          <p:cNvSpPr/>
          <p:nvPr/>
        </p:nvSpPr>
        <p:spPr>
          <a:xfrm>
            <a:off x="1188720" y="36921600"/>
            <a:ext cx="13258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76749"/>
                </a:solidFill>
                <a:latin typeface="Calibri"/>
                <a:ea typeface="Calibri"/>
              </a:rPr>
              <a:t>Narrow door = 100% across entire grid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76749"/>
                </a:solidFill>
                <a:latin typeface="Calibri"/>
                <a:ea typeface="Calibri"/>
              </a:rPr>
              <a:t>→ </a:t>
            </a:r>
            <a:r>
              <a:rPr b="0" i="1" lang="en-US" sz="1300" spc="-1" strike="noStrike">
                <a:solidFill>
                  <a:srgbClr val="276749"/>
                </a:solidFill>
                <a:latin typeface="Calibri"/>
                <a:ea typeface="Calibri"/>
              </a:rPr>
              <a:t>switching never harms precision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2" name="Shape 163"/>
          <p:cNvSpPr/>
          <p:nvPr/>
        </p:nvSpPr>
        <p:spPr>
          <a:xfrm>
            <a:off x="15361920" y="33446880"/>
            <a:ext cx="14172480" cy="47541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164"/>
          <p:cNvSpPr/>
          <p:nvPr/>
        </p:nvSpPr>
        <p:spPr>
          <a:xfrm>
            <a:off x="15544800" y="33629760"/>
            <a:ext cx="13806720" cy="639360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65"/>
          <p:cNvSpPr/>
          <p:nvPr/>
        </p:nvSpPr>
        <p:spPr>
          <a:xfrm>
            <a:off x="15681960" y="33702840"/>
            <a:ext cx="456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b6cb0"/>
                </a:solidFill>
                <a:latin typeface="Arial"/>
                <a:ea typeface="Arial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5" name="Text 166"/>
          <p:cNvSpPr/>
          <p:nvPr/>
        </p:nvSpPr>
        <p:spPr>
          <a:xfrm>
            <a:off x="16184880" y="33702840"/>
            <a:ext cx="130294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a365d"/>
                </a:solidFill>
                <a:latin typeface="Arial"/>
                <a:ea typeface="Arial"/>
              </a:rPr>
              <a:t>Error taxonomy and what didn't work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6" name="Shape 167"/>
          <p:cNvSpPr/>
          <p:nvPr/>
        </p:nvSpPr>
        <p:spPr>
          <a:xfrm>
            <a:off x="15727680" y="34452720"/>
            <a:ext cx="13440960" cy="657720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68"/>
          <p:cNvSpPr/>
          <p:nvPr/>
        </p:nvSpPr>
        <p:spPr>
          <a:xfrm>
            <a:off x="15910560" y="344710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Greedy tracking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8" name="Text 169"/>
          <p:cNvSpPr/>
          <p:nvPr/>
        </p:nvSpPr>
        <p:spPr>
          <a:xfrm>
            <a:off x="15910560" y="34772760"/>
            <a:ext cx="1307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Cannot retreat — Baseline in U-trap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9" name="Shape 170"/>
          <p:cNvSpPr/>
          <p:nvPr/>
        </p:nvSpPr>
        <p:spPr>
          <a:xfrm>
            <a:off x="15727680" y="35229960"/>
            <a:ext cx="13440960" cy="657720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71"/>
          <p:cNvSpPr/>
          <p:nvPr/>
        </p:nvSpPr>
        <p:spPr>
          <a:xfrm>
            <a:off x="15910560" y="3524832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Reward conflict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1" name="Text 172"/>
          <p:cNvSpPr/>
          <p:nvPr/>
        </p:nvSpPr>
        <p:spPr>
          <a:xfrm>
            <a:off x="15910560" y="35550000"/>
            <a:ext cx="1307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Exploration vs precision — πE in narrow door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2" name="Shape 173"/>
          <p:cNvSpPr/>
          <p:nvPr/>
        </p:nvSpPr>
        <p:spPr>
          <a:xfrm>
            <a:off x="15727680" y="36007200"/>
            <a:ext cx="13440960" cy="657720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74"/>
          <p:cNvSpPr/>
          <p:nvPr/>
        </p:nvSpPr>
        <p:spPr>
          <a:xfrm>
            <a:off x="15910560" y="3602556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53030"/>
                </a:solidFill>
                <a:latin typeface="Arial"/>
                <a:ea typeface="Arial"/>
              </a:rPr>
              <a:t>Parameter space limit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4" name="Text 175"/>
          <p:cNvSpPr/>
          <p:nvPr/>
        </p:nvSpPr>
        <p:spPr>
          <a:xfrm>
            <a:off x="15910560" y="36327240"/>
            <a:ext cx="1307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Single network can't encode both — Annealing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5" name="Shape 176"/>
          <p:cNvSpPr/>
          <p:nvPr/>
        </p:nvSpPr>
        <p:spPr>
          <a:xfrm>
            <a:off x="15727680" y="36784440"/>
            <a:ext cx="13440960" cy="65772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77"/>
          <p:cNvSpPr/>
          <p:nvPr/>
        </p:nvSpPr>
        <p:spPr>
          <a:xfrm>
            <a:off x="15910560" y="368028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b7791f"/>
                </a:solidFill>
                <a:latin typeface="Arial"/>
                <a:ea typeface="Arial"/>
              </a:rPr>
              <a:t>Detection latency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7" name="Text 178"/>
          <p:cNvSpPr/>
          <p:nvPr/>
        </p:nvSpPr>
        <p:spPr>
          <a:xfrm>
            <a:off x="15910560" y="37104480"/>
            <a:ext cx="1307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20 steps to confirm stall — STPS 75%&lt;83%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8" name="Text 179"/>
          <p:cNvSpPr/>
          <p:nvPr/>
        </p:nvSpPr>
        <p:spPr>
          <a:xfrm>
            <a:off x="15819120" y="37653120"/>
            <a:ext cx="1325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365d"/>
                </a:solidFill>
                <a:latin typeface="Arial"/>
                <a:ea typeface="Arial"/>
              </a:rPr>
              <a:t>What didn't work: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9" name="Text 180"/>
          <p:cNvSpPr/>
          <p:nvPr/>
        </p:nvSpPr>
        <p:spPr>
          <a:xfrm>
            <a:off x="15819120" y="37927440"/>
            <a:ext cx="13258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STPS v3 (goal-distance + progressive escape): no gain over v2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U-trap specialist: 83%, same as original improved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Calibri"/>
                <a:ea typeface="Calibri"/>
              </a:rPr>
              <a:t>Bottleneck = geometric difficulty, not detection/model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0" name="Shape 181"/>
          <p:cNvSpPr/>
          <p:nvPr/>
        </p:nvSpPr>
        <p:spPr>
          <a:xfrm>
            <a:off x="731520" y="38567520"/>
            <a:ext cx="28802880" cy="3199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16200000" dist="255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Shape 182"/>
          <p:cNvSpPr/>
          <p:nvPr/>
        </p:nvSpPr>
        <p:spPr>
          <a:xfrm>
            <a:off x="1005840" y="38750400"/>
            <a:ext cx="13943880" cy="502200"/>
          </a:xfrm>
          <a:prstGeom prst="roundRect">
            <a:avLst>
              <a:gd name="adj" fmla="val 18182"/>
            </a:avLst>
          </a:prstGeom>
          <a:solidFill>
            <a:srgbClr val="eb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83"/>
          <p:cNvSpPr/>
          <p:nvPr/>
        </p:nvSpPr>
        <p:spPr>
          <a:xfrm>
            <a:off x="1188720" y="38768760"/>
            <a:ext cx="1357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8  Conclusion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3" name="Text 184"/>
          <p:cNvSpPr/>
          <p:nvPr/>
        </p:nvSpPr>
        <p:spPr>
          <a:xfrm>
            <a:off x="1188720" y="39390480"/>
            <a:ext cx="135781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1. We reproduced and diagnosed a CNNTD3 navigation baseline that performs well in standard scenes but fails in trap-like layouts.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2. We identified an exploration-precision conflict: exploration helps local-minimum escape but damages narrow-door alignment.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3. STPS resolves this conflict by composing two frozen policies at runtime using stall and oscillation evidence.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4. In our hard-scenario benchmark, STPS improves scenario-average SR from 67% to 94% and removes all 0%-SR hard-scenario cells while preserving standard-environment performance.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</p:txBody>
      </p:sp>
      <p:sp>
        <p:nvSpPr>
          <p:cNvPr id="234" name="Text 186"/>
          <p:cNvSpPr/>
          <p:nvPr/>
        </p:nvSpPr>
        <p:spPr>
          <a:xfrm>
            <a:off x="15499080" y="38768760"/>
            <a:ext cx="1357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a365d"/>
                </a:solidFill>
                <a:latin typeface="Arial"/>
                <a:ea typeface="Arial"/>
              </a:rPr>
              <a:t>9  References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5" name="Text 187"/>
          <p:cNvSpPr/>
          <p:nvPr/>
        </p:nvSpPr>
        <p:spPr>
          <a:xfrm>
            <a:off x="15499080" y="39390480"/>
            <a:ext cx="135781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a5568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</p:txBody>
      </p:sp>
      <p:sp>
        <p:nvSpPr>
          <p:cNvPr id="236" name="Shape 188"/>
          <p:cNvSpPr/>
          <p:nvPr/>
        </p:nvSpPr>
        <p:spPr>
          <a:xfrm>
            <a:off x="0" y="42062400"/>
            <a:ext cx="30265920" cy="730800"/>
          </a:xfrm>
          <a:prstGeom prst="rect">
            <a:avLst/>
          </a:prstGeom>
          <a:solidFill>
            <a:srgbClr val="1a36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89"/>
          <p:cNvSpPr/>
          <p:nvPr/>
        </p:nvSpPr>
        <p:spPr>
          <a:xfrm>
            <a:off x="1828800" y="42108120"/>
            <a:ext cx="2651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eaecb"/>
                </a:solidFill>
                <a:latin typeface="Calibri"/>
                <a:ea typeface="Calibri"/>
              </a:rPr>
              <a:t>Code and data available  |  Contact: [email]  |  Summer Research Program 2026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2026-07-23T07:59:39Z</dcterms:created>
  <dc:creator>PptxGenJS</dc:creator>
  <dc:description/>
  <dc:language>en-US</dc:language>
  <cp:lastModifiedBy/>
  <dcterms:modified xsi:type="dcterms:W3CDTF">2026-07-23T18:38:59Z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