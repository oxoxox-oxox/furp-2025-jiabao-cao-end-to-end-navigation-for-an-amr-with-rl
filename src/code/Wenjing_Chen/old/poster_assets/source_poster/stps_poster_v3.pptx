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30267275" cy="42794238"/>
  <p:notesSz cx="42794238" cy="302672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EFEF774-ECCD-4BC8-A0C3-6193B1B24E0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639980-7465-4035-A870-B8655F99E6E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513080" y="10013760"/>
            <a:ext cx="27239400" cy="248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27239400" cy="248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2640" cy="248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15470640" y="10013760"/>
            <a:ext cx="13292640" cy="248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1513080" y="1707120"/>
            <a:ext cx="27239400" cy="3312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15470640" y="10013760"/>
            <a:ext cx="13292640" cy="248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/>
          </p:nvPr>
        </p:nvSpPr>
        <p:spPr>
          <a:xfrm>
            <a:off x="1513080" y="2297772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2640" cy="248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15470640" y="1001376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15470640" y="2297772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15470640" y="1001376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1513080" y="22977720"/>
            <a:ext cx="272394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272394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1513080" y="22977720"/>
            <a:ext cx="272394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15470640" y="1001376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513080" y="2297772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/>
          </p:nvPr>
        </p:nvSpPr>
        <p:spPr>
          <a:xfrm>
            <a:off x="15470640" y="22977720"/>
            <a:ext cx="132926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13080" y="1707120"/>
            <a:ext cx="2723940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877068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0722600" y="10013760"/>
            <a:ext cx="877068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9932120" y="10013760"/>
            <a:ext cx="877068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1513080" y="22977720"/>
            <a:ext cx="877068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/>
          </p:nvPr>
        </p:nvSpPr>
        <p:spPr>
          <a:xfrm>
            <a:off x="10722600" y="22977720"/>
            <a:ext cx="877068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/>
          </p:nvPr>
        </p:nvSpPr>
        <p:spPr>
          <a:xfrm>
            <a:off x="19932120" y="22977720"/>
            <a:ext cx="877068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30266280" cy="438876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Text 1"/>
          <p:cNvSpPr/>
          <p:nvPr/>
        </p:nvSpPr>
        <p:spPr>
          <a:xfrm>
            <a:off x="914400" y="457200"/>
            <a:ext cx="283460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Stall-Triggered Policy Switching for</a:t>
            </a:r>
            <a:endParaRPr b="0" lang="en-US" sz="52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DRL Navigation in Trap Scenarios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2743200" y="2743200"/>
            <a:ext cx="2468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eaecb"/>
                </a:solidFill>
                <a:latin typeface="Calibri"/>
                <a:ea typeface="Calibri"/>
              </a:rPr>
              <a:t>[Author]  ·  [University]  ·  Summer Research 2026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1371600" y="3383280"/>
            <a:ext cx="27431640" cy="822600"/>
          </a:xfrm>
          <a:prstGeom prst="roundRect">
            <a:avLst>
              <a:gd name="adj" fmla="val 8889"/>
            </a:avLst>
          </a:prstGeom>
          <a:solidFill>
            <a:srgbClr val="0d28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4"/>
          <p:cNvSpPr/>
          <p:nvPr/>
        </p:nvSpPr>
        <p:spPr>
          <a:xfrm>
            <a:off x="1828800" y="340164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eaecb"/>
                </a:solidFill>
                <a:latin typeface="Arial"/>
                <a:ea typeface="Arial"/>
              </a:rPr>
              <a:t>94% scenario avg SR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8686800" y="340164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eaecb"/>
                </a:solidFill>
                <a:latin typeface="Arial"/>
                <a:ea typeface="Arial"/>
              </a:rPr>
              <a:t>88% standard SR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15544800" y="340164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eaecb"/>
                </a:solidFill>
                <a:latin typeface="Arial"/>
                <a:ea typeface="Arial"/>
              </a:rPr>
              <a:t>0 catastrophic failures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22402800" y="340164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eaecb"/>
                </a:solidFill>
                <a:latin typeface="Arial"/>
                <a:ea typeface="Arial"/>
              </a:rPr>
              <a:t>0 training cost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640080" y="4663440"/>
            <a:ext cx="28986120" cy="2742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" name="Shape 9"/>
          <p:cNvSpPr/>
          <p:nvPr/>
        </p:nvSpPr>
        <p:spPr>
          <a:xfrm>
            <a:off x="777240" y="4800600"/>
            <a:ext cx="2871180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10"/>
          <p:cNvSpPr/>
          <p:nvPr/>
        </p:nvSpPr>
        <p:spPr>
          <a:xfrm>
            <a:off x="868680" y="484632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1325880" y="4846320"/>
            <a:ext cx="2802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Abstract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1005840" y="5486400"/>
            <a:ext cx="28254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365d"/>
                </a:solidFill>
                <a:latin typeface="Calibri"/>
                <a:ea typeface="Calibri"/>
              </a:rPr>
              <a:t>Problem: </a:t>
            </a: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DRL navigation policies achieve &gt;85% success in open environments but catastrophically fail (0% SR) in trap scenarios requiring temporary retreat from the goal. </a:t>
            </a:r>
            <a:r>
              <a:rPr b="1" lang="en-US" sz="1600" spc="-1" strike="noStrike">
                <a:solidFill>
                  <a:srgbClr val="1a365d"/>
                </a:solidFill>
                <a:latin typeface="Calibri"/>
                <a:ea typeface="Calibri"/>
              </a:rPr>
              <a:t>Gap: </a:t>
            </a: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Exploration rewards fix traps (0→83%) but destroy precision (narrow door 100→0%). Reward annealing cannot resolve this conflict. </a:t>
            </a:r>
            <a:r>
              <a:rPr b="1" lang="en-US" sz="1600" spc="-1" strike="noStrike">
                <a:solidFill>
                  <a:srgbClr val="1a365d"/>
                </a:solidFill>
                <a:latin typeface="Calibri"/>
                <a:ea typeface="Calibri"/>
              </a:rPr>
              <a:t>Method: </a:t>
            </a: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We propose Stall-Triggered Policy Switching (STPS), a training-free runtime architecture that detects motion stagnation and dynamically switches between precision and exploration policies. </a:t>
            </a:r>
            <a:r>
              <a:rPr b="1" lang="en-US" sz="1600" spc="-1" strike="noStrike">
                <a:solidFill>
                  <a:srgbClr val="1a365d"/>
                </a:solidFill>
                <a:latin typeface="Calibri"/>
                <a:ea typeface="Calibri"/>
              </a:rPr>
              <a:t>Result: </a:t>
            </a: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STPS achieves 94% average scenario SR (+27 points vs baseline), is the only method without catastrophic failure on any scenario, and matches baseline on standard environments (88%).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640080" y="7680960"/>
            <a:ext cx="14310000" cy="50288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Shape 14"/>
          <p:cNvSpPr/>
          <p:nvPr/>
        </p:nvSpPr>
        <p:spPr>
          <a:xfrm>
            <a:off x="777240" y="7818120"/>
            <a:ext cx="1403568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5"/>
          <p:cNvSpPr/>
          <p:nvPr/>
        </p:nvSpPr>
        <p:spPr>
          <a:xfrm>
            <a:off x="868680" y="78638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1325880" y="7863840"/>
            <a:ext cx="1334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Introduction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914400" y="8503920"/>
            <a:ext cx="1376136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1a365d"/>
                </a:solidFill>
                <a:latin typeface="Calibri"/>
                <a:ea typeface="Calibri"/>
              </a:rPr>
              <a:t>Deep reinforcement learning (DRL)</a:t>
            </a: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 has become standard for mapless robot navigation, mapping raw LiDAR to velocity commands. CNN-TD3 achieves high success rates in cluttered environments.</a:t>
            </a:r>
            <a:endParaRPr b="0" lang="en-US" sz="1600" spc="-1" strike="noStrike">
              <a:latin typeface="Arial"/>
            </a:endParaRPr>
          </a:p>
          <a:p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However, in </a:t>
            </a:r>
            <a:r>
              <a:rPr b="1" lang="en-US" sz="1600" spc="-1" strike="noStrike">
                <a:solidFill>
                  <a:srgbClr val="c53030"/>
                </a:solidFill>
                <a:latin typeface="Calibri"/>
                <a:ea typeface="Calibri"/>
              </a:rPr>
              <a:t>trap scenarios</a:t>
            </a: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 — U-shaped dead ends, narrow corridors requiring retreat — greedy goal-directed rewards cause the robot to oscillate until timeout.</a:t>
            </a:r>
            <a:endParaRPr b="0" lang="en-US" sz="1600" spc="-1" strike="noStrike">
              <a:latin typeface="Arial"/>
            </a:endParaRPr>
          </a:p>
          <a:p>
            <a:endParaRPr b="0" lang="en-US" sz="16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1a365d"/>
                </a:solidFill>
                <a:latin typeface="Calibri"/>
                <a:ea typeface="Calibri"/>
              </a:rPr>
              <a:t>Existing approaches: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Intrinsic motivation/curiosity — helps exploration but hurts precision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GRU memory — improves symmetry but worsens trap escape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Curriculum learning — insufficient alone for trap escape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Hierarchical RL — requires expensive end-to-end retraining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" name="Shape 18"/>
          <p:cNvSpPr/>
          <p:nvPr/>
        </p:nvSpPr>
        <p:spPr>
          <a:xfrm>
            <a:off x="15316200" y="7680960"/>
            <a:ext cx="14310000" cy="50288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19"/>
          <p:cNvSpPr/>
          <p:nvPr/>
        </p:nvSpPr>
        <p:spPr>
          <a:xfrm>
            <a:off x="15453360" y="7818120"/>
            <a:ext cx="1403568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20"/>
          <p:cNvSpPr/>
          <p:nvPr/>
        </p:nvSpPr>
        <p:spPr>
          <a:xfrm>
            <a:off x="15544800" y="78638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16002000" y="7863840"/>
            <a:ext cx="1334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Key Finding: Exploration–Precision Conflict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15590520" y="8503920"/>
            <a:ext cx="13761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276749"/>
                </a:solidFill>
                <a:latin typeface="Calibri"/>
                <a:ea typeface="Calibri"/>
              </a:rPr>
              <a:t>Exploration bonus </a:t>
            </a: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solves U-trap (0→83%) but </a:t>
            </a:r>
            <a:r>
              <a:rPr b="1" lang="en-US" sz="1600" spc="-1" strike="noStrike">
                <a:solidFill>
                  <a:srgbClr val="c53030"/>
                </a:solidFill>
                <a:latin typeface="Calibri"/>
                <a:ea typeface="Calibri"/>
              </a:rPr>
              <a:t>kills narrow door (100→0%).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a5568"/>
                </a:solidFill>
                <a:latin typeface="Calibri"/>
                <a:ea typeface="Calibri"/>
              </a:rPr>
              <a:t>Annealing recovers narrow door but loses U-trap.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15773400" y="9601200"/>
            <a:ext cx="4688280" cy="3470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Method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20462040" y="9601200"/>
            <a:ext cx="2176560" cy="3470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Std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" name="Text 25"/>
          <p:cNvSpPr/>
          <p:nvPr/>
        </p:nvSpPr>
        <p:spPr>
          <a:xfrm>
            <a:off x="22638960" y="9601200"/>
            <a:ext cx="2176560" cy="3470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U-trap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" name="Text 26"/>
          <p:cNvSpPr/>
          <p:nvPr/>
        </p:nvSpPr>
        <p:spPr>
          <a:xfrm>
            <a:off x="24815520" y="9601200"/>
            <a:ext cx="2176560" cy="3470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Narrow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9" name="Text 27"/>
          <p:cNvSpPr/>
          <p:nvPr/>
        </p:nvSpPr>
        <p:spPr>
          <a:xfrm>
            <a:off x="26992440" y="9601200"/>
            <a:ext cx="2176560" cy="34704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Avg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" name="Text 28"/>
          <p:cNvSpPr/>
          <p:nvPr/>
        </p:nvSpPr>
        <p:spPr>
          <a:xfrm>
            <a:off x="15773400" y="9948600"/>
            <a:ext cx="468828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Baseline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" name="Text 29"/>
          <p:cNvSpPr/>
          <p:nvPr/>
        </p:nvSpPr>
        <p:spPr>
          <a:xfrm>
            <a:off x="20462040" y="994860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87%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" name="Text 30"/>
          <p:cNvSpPr/>
          <p:nvPr/>
        </p:nvSpPr>
        <p:spPr>
          <a:xfrm>
            <a:off x="22638960" y="994860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" name="Text 31"/>
          <p:cNvSpPr/>
          <p:nvPr/>
        </p:nvSpPr>
        <p:spPr>
          <a:xfrm>
            <a:off x="24815520" y="994860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76749"/>
                </a:solidFill>
                <a:latin typeface="Arial"/>
                <a:ea typeface="Arial"/>
              </a:rPr>
              <a:t>100%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26992440" y="994860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67%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" name="Text 33"/>
          <p:cNvSpPr/>
          <p:nvPr/>
        </p:nvSpPr>
        <p:spPr>
          <a:xfrm>
            <a:off x="15773400" y="10296000"/>
            <a:ext cx="468828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Curriculum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" name="Text 34"/>
          <p:cNvSpPr/>
          <p:nvPr/>
        </p:nvSpPr>
        <p:spPr>
          <a:xfrm>
            <a:off x="20462040" y="1029600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74%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" name="Text 35"/>
          <p:cNvSpPr/>
          <p:nvPr/>
        </p:nvSpPr>
        <p:spPr>
          <a:xfrm>
            <a:off x="22638960" y="1029600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Text 36"/>
          <p:cNvSpPr/>
          <p:nvPr/>
        </p:nvSpPr>
        <p:spPr>
          <a:xfrm>
            <a:off x="24815520" y="1029600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53030"/>
                </a:solidFill>
                <a:latin typeface="Arial"/>
                <a:ea typeface="Arial"/>
              </a:rPr>
              <a:t>8%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" name="Text 37"/>
          <p:cNvSpPr/>
          <p:nvPr/>
        </p:nvSpPr>
        <p:spPr>
          <a:xfrm>
            <a:off x="26992440" y="1029600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52%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" name="Text 38"/>
          <p:cNvSpPr/>
          <p:nvPr/>
        </p:nvSpPr>
        <p:spPr>
          <a:xfrm>
            <a:off x="15773400" y="10643760"/>
            <a:ext cx="468828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Exploration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Text 39"/>
          <p:cNvSpPr/>
          <p:nvPr/>
        </p:nvSpPr>
        <p:spPr>
          <a:xfrm>
            <a:off x="20462040" y="1064376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80%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2" name="Text 40"/>
          <p:cNvSpPr/>
          <p:nvPr/>
        </p:nvSpPr>
        <p:spPr>
          <a:xfrm>
            <a:off x="22638960" y="1064376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76749"/>
                </a:solidFill>
                <a:latin typeface="Arial"/>
                <a:ea typeface="Arial"/>
              </a:rPr>
              <a:t>83%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3" name="Text 41"/>
          <p:cNvSpPr/>
          <p:nvPr/>
        </p:nvSpPr>
        <p:spPr>
          <a:xfrm>
            <a:off x="24815520" y="1064376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Text 42"/>
          <p:cNvSpPr/>
          <p:nvPr/>
        </p:nvSpPr>
        <p:spPr>
          <a:xfrm>
            <a:off x="26992440" y="10643760"/>
            <a:ext cx="2176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71%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5" name="Text 43"/>
          <p:cNvSpPr/>
          <p:nvPr/>
        </p:nvSpPr>
        <p:spPr>
          <a:xfrm>
            <a:off x="15773400" y="10991160"/>
            <a:ext cx="468828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Annealed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" name="Text 44"/>
          <p:cNvSpPr/>
          <p:nvPr/>
        </p:nvSpPr>
        <p:spPr>
          <a:xfrm>
            <a:off x="20462040" y="1099116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82%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" name="Text 45"/>
          <p:cNvSpPr/>
          <p:nvPr/>
        </p:nvSpPr>
        <p:spPr>
          <a:xfrm>
            <a:off x="22638960" y="1099116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Text 46"/>
          <p:cNvSpPr/>
          <p:nvPr/>
        </p:nvSpPr>
        <p:spPr>
          <a:xfrm>
            <a:off x="24815520" y="1099116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76749"/>
                </a:solidFill>
                <a:latin typeface="Arial"/>
                <a:ea typeface="Arial"/>
              </a:rPr>
              <a:t>100%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Text 47"/>
          <p:cNvSpPr/>
          <p:nvPr/>
        </p:nvSpPr>
        <p:spPr>
          <a:xfrm>
            <a:off x="26992440" y="10991160"/>
            <a:ext cx="2176560" cy="3470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55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75%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0" name="Image 0" descr="/home/claude/poster_imgs/1.png"/>
          <p:cNvPicPr/>
          <p:nvPr/>
        </p:nvPicPr>
        <p:blipFill>
          <a:blip r:embed="rId1"/>
          <a:stretch/>
        </p:blipFill>
        <p:spPr>
          <a:xfrm>
            <a:off x="15773400" y="11384280"/>
            <a:ext cx="6697800" cy="6362640"/>
          </a:xfrm>
          <a:prstGeom prst="rect">
            <a:avLst/>
          </a:prstGeom>
          <a:ln w="0">
            <a:noFill/>
          </a:ln>
        </p:spPr>
      </p:pic>
      <p:sp>
        <p:nvSpPr>
          <p:cNvPr id="91" name="Text 48"/>
          <p:cNvSpPr/>
          <p:nvPr/>
        </p:nvSpPr>
        <p:spPr>
          <a:xfrm>
            <a:off x="22654440" y="11612880"/>
            <a:ext cx="6697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53030"/>
                </a:solidFill>
                <a:latin typeface="Calibri"/>
                <a:ea typeface="Calibri"/>
              </a:rPr>
              <a:t>Baseline freezes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53030"/>
                </a:solidFill>
                <a:latin typeface="Calibri"/>
                <a:ea typeface="Calibri"/>
              </a:rPr>
              <a:t>in U-trap (0% SR)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" name="Shape 49"/>
          <p:cNvSpPr/>
          <p:nvPr/>
        </p:nvSpPr>
        <p:spPr>
          <a:xfrm>
            <a:off x="640080" y="12984480"/>
            <a:ext cx="28986120" cy="438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Shape 50"/>
          <p:cNvSpPr/>
          <p:nvPr/>
        </p:nvSpPr>
        <p:spPr>
          <a:xfrm>
            <a:off x="777240" y="13121640"/>
            <a:ext cx="2871180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51"/>
          <p:cNvSpPr/>
          <p:nvPr/>
        </p:nvSpPr>
        <p:spPr>
          <a:xfrm>
            <a:off x="868680" y="131673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5" name="Text 52"/>
          <p:cNvSpPr/>
          <p:nvPr/>
        </p:nvSpPr>
        <p:spPr>
          <a:xfrm>
            <a:off x="1325880" y="13167360"/>
            <a:ext cx="2802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Method: Stall-Triggered Policy Switching (STPS)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Shape 53"/>
          <p:cNvSpPr/>
          <p:nvPr/>
        </p:nvSpPr>
        <p:spPr>
          <a:xfrm>
            <a:off x="5989320" y="13898880"/>
            <a:ext cx="5943240" cy="1645560"/>
          </a:xfrm>
          <a:prstGeom prst="roundRect">
            <a:avLst>
              <a:gd name="adj" fmla="val 8333"/>
            </a:avLst>
          </a:prstGeom>
          <a:solidFill>
            <a:srgbClr val="ebf8ff"/>
          </a:solidFill>
          <a:ln w="1905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54"/>
          <p:cNvSpPr/>
          <p:nvPr/>
        </p:nvSpPr>
        <p:spPr>
          <a:xfrm>
            <a:off x="5989320" y="1399032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b6cb0"/>
                </a:solidFill>
                <a:latin typeface="Arial"/>
                <a:ea typeface="Arial"/>
              </a:rPr>
              <a:t>MAIN MODE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b6cb0"/>
                </a:solidFill>
                <a:latin typeface="Arial"/>
                <a:ea typeface="Arial"/>
              </a:rPr>
              <a:t>Precision policy πP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8" name="Text 55"/>
          <p:cNvSpPr/>
          <p:nvPr/>
        </p:nvSpPr>
        <p:spPr>
          <a:xfrm>
            <a:off x="6446520" y="1472184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Standard goal-directed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navigation (DEFAULT)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9" name="Shape 56"/>
          <p:cNvSpPr/>
          <p:nvPr/>
        </p:nvSpPr>
        <p:spPr>
          <a:xfrm>
            <a:off x="18333720" y="13898880"/>
            <a:ext cx="5943240" cy="1645560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 w="19050">
            <a:solidFill>
              <a:srgbClr val="c530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57"/>
          <p:cNvSpPr/>
          <p:nvPr/>
        </p:nvSpPr>
        <p:spPr>
          <a:xfrm>
            <a:off x="18333720" y="1399032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c53030"/>
                </a:solidFill>
                <a:latin typeface="Arial"/>
                <a:ea typeface="Arial"/>
              </a:rPr>
              <a:t>ESCAPE MODE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c53030"/>
                </a:solidFill>
                <a:latin typeface="Arial"/>
                <a:ea typeface="Arial"/>
              </a:rPr>
              <a:t>Exploration policy πE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 58"/>
          <p:cNvSpPr/>
          <p:nvPr/>
        </p:nvSpPr>
        <p:spPr>
          <a:xfrm>
            <a:off x="18790920" y="1472184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Novelty-seeking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navigation (TEMPORARY)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2" name="Shape 59"/>
          <p:cNvSpPr/>
          <p:nvPr/>
        </p:nvSpPr>
        <p:spPr>
          <a:xfrm>
            <a:off x="11932920" y="14447520"/>
            <a:ext cx="6400800" cy="360"/>
          </a:xfrm>
          <a:prstGeom prst="line">
            <a:avLst/>
          </a:prstGeom>
          <a:ln w="25400">
            <a:solidFill>
              <a:srgbClr val="c5303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60"/>
          <p:cNvSpPr/>
          <p:nvPr/>
        </p:nvSpPr>
        <p:spPr>
          <a:xfrm>
            <a:off x="12390120" y="135331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53030"/>
                </a:solidFill>
                <a:latin typeface="Calibri"/>
                <a:ea typeface="Calibri"/>
              </a:rPr>
              <a:t>Stall: ‖xₜ−xₜ₋₂₀‖&lt;0.15m OR oscillation≥5/12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" name="Shape 61"/>
          <p:cNvSpPr/>
          <p:nvPr/>
        </p:nvSpPr>
        <p:spPr>
          <a:xfrm>
            <a:off x="11932920" y="15270480"/>
            <a:ext cx="6400800" cy="360"/>
          </a:xfrm>
          <a:prstGeom prst="line">
            <a:avLst/>
          </a:prstGeom>
          <a:ln w="25400">
            <a:solidFill>
              <a:srgbClr val="276749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62"/>
          <p:cNvSpPr/>
          <p:nvPr/>
        </p:nvSpPr>
        <p:spPr>
          <a:xfrm>
            <a:off x="12390120" y="154533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6749"/>
                </a:solidFill>
                <a:latin typeface="Calibri"/>
                <a:ea typeface="Calibri"/>
              </a:rPr>
              <a:t>Escaped: k≥120 AND ‖xₜ−xsw‖&gt;0.5m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6" name="Text 63"/>
          <p:cNvSpPr/>
          <p:nvPr/>
        </p:nvSpPr>
        <p:spPr>
          <a:xfrm>
            <a:off x="1554480" y="1600200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● 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Zero training cost: Frozen policies + runtime logic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7" name="Text 64"/>
          <p:cNvSpPr/>
          <p:nvPr/>
        </p:nvSpPr>
        <p:spPr>
          <a:xfrm>
            <a:off x="11155680" y="1600200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● 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&lt;0.1ms overhead: One distance check per step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" name="Text 65"/>
          <p:cNvSpPr/>
          <p:nvPr/>
        </p:nvSpPr>
        <p:spPr>
          <a:xfrm>
            <a:off x="20756880" y="1600200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● 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Real-robot ready: Simple if-else, deployable on LIMO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" name="Shape 66"/>
          <p:cNvSpPr/>
          <p:nvPr/>
        </p:nvSpPr>
        <p:spPr>
          <a:xfrm>
            <a:off x="640080" y="17647920"/>
            <a:ext cx="14310000" cy="4754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Shape 67"/>
          <p:cNvSpPr/>
          <p:nvPr/>
        </p:nvSpPr>
        <p:spPr>
          <a:xfrm>
            <a:off x="777240" y="17785080"/>
            <a:ext cx="1403568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68"/>
          <p:cNvSpPr/>
          <p:nvPr/>
        </p:nvSpPr>
        <p:spPr>
          <a:xfrm>
            <a:off x="868680" y="1783080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2" name="Text 69"/>
          <p:cNvSpPr/>
          <p:nvPr/>
        </p:nvSpPr>
        <p:spPr>
          <a:xfrm>
            <a:off x="1325880" y="17830800"/>
            <a:ext cx="1334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Experiment Setup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3" name="Text 70"/>
          <p:cNvSpPr/>
          <p:nvPr/>
        </p:nvSpPr>
        <p:spPr>
          <a:xfrm>
            <a:off x="914400" y="18470880"/>
            <a:ext cx="1376136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1a365d"/>
                </a:solidFill>
                <a:latin typeface="Calibri"/>
                <a:ea typeface="Calibri"/>
              </a:rPr>
              <a:t>Simulator: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IR-SIM 2D, differential-drive robot (r=0.2m, v_max=0.5m/s)</a:t>
            </a:r>
            <a:endParaRPr b="0" lang="en-US" sz="1300" spc="-1" strike="noStrike">
              <a:latin typeface="Arial"/>
            </a:endParaRPr>
          </a:p>
          <a:p>
            <a:r>
              <a:rPr b="1" lang="en-US" sz="1300" spc="-1" strike="noStrike">
                <a:solidFill>
                  <a:srgbClr val="1a365d"/>
                </a:solidFill>
                <a:latin typeface="Calibri"/>
                <a:ea typeface="Calibri"/>
              </a:rPr>
              <a:t>Environment: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10×10m worlds, 180-beam LiDAR (180° FOV, 7m range), 0.3s steps</a:t>
            </a:r>
            <a:endParaRPr b="0" lang="en-US" sz="1300" spc="-1" strike="noStrike">
              <a:latin typeface="Arial"/>
            </a:endParaRPr>
          </a:p>
          <a:p>
            <a:r>
              <a:rPr b="1" lang="en-US" sz="1300" spc="-1" strike="noStrike">
                <a:solidFill>
                  <a:srgbClr val="1a365d"/>
                </a:solidFill>
                <a:latin typeface="Calibri"/>
                <a:ea typeface="Calibri"/>
              </a:rPr>
              <a:t>Network: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CNN-TD3, state_dim=185, lr=1e-4, batch=64, replay buffer=100K</a:t>
            </a:r>
            <a:endParaRPr b="0" lang="en-US" sz="1300" spc="-1" strike="noStrike">
              <a:latin typeface="Arial"/>
            </a:endParaRPr>
          </a:p>
          <a:p>
            <a:r>
              <a:rPr b="1" lang="en-US" sz="1300" spc="-1" strike="noStrike">
                <a:solidFill>
                  <a:srgbClr val="1a365d"/>
                </a:solidFill>
                <a:latin typeface="Calibri"/>
                <a:ea typeface="Calibri"/>
              </a:rPr>
              <a:t>Scenarios: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Standard (random obs, 100ep), S1 U-trap, S2 Double-U, S3 Narrow door (0.45m gap), S5 Corridor</a:t>
            </a:r>
            <a:endParaRPr b="0" lang="en-US" sz="1300" spc="-1" strike="noStrike">
              <a:latin typeface="Arial"/>
            </a:endParaRPr>
          </a:p>
          <a:p>
            <a:r>
              <a:rPr b="1" lang="en-US" sz="1300" spc="-1" strike="noStrike">
                <a:solidFill>
                  <a:srgbClr val="1a365d"/>
                </a:solidFill>
                <a:latin typeface="Calibri"/>
                <a:ea typeface="Calibri"/>
              </a:rPr>
              <a:t>Evaluation: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3 seeds × 12 perturbed starts per scenario (±0.3m pos, ±0.4rad heading)</a:t>
            </a:r>
            <a:endParaRPr b="0" lang="en-US" sz="1300" spc="-1" strike="noStrike">
              <a:latin typeface="Arial"/>
            </a:endParaRPr>
          </a:p>
          <a:p>
            <a:r>
              <a:rPr b="1" lang="en-US" sz="1300" spc="-1" strike="noStrike">
                <a:solidFill>
                  <a:srgbClr val="1a365d"/>
                </a:solidFill>
                <a:latin typeface="Calibri"/>
                <a:ea typeface="Calibri"/>
              </a:rPr>
              <a:t>Baselines: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CNNTD3, RCPG (GRU+TD3), Curriculum-only, Exploration-only, Annealed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365d"/>
                </a:solidFill>
                <a:latin typeface="Calibri"/>
                <a:ea typeface="Calibri"/>
              </a:rPr>
              <a:t>Reproducibility: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Seeds={42,123,2026}, IR-SIM v2.7.5, PyTorch 2.12, Python 3.10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Cmd: python eval_stps_v2.py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4" name="Shape 71"/>
          <p:cNvSpPr/>
          <p:nvPr/>
        </p:nvSpPr>
        <p:spPr>
          <a:xfrm>
            <a:off x="15316200" y="17647920"/>
            <a:ext cx="14310000" cy="4754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72"/>
          <p:cNvSpPr/>
          <p:nvPr/>
        </p:nvSpPr>
        <p:spPr>
          <a:xfrm>
            <a:off x="15453360" y="17785080"/>
            <a:ext cx="1403568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73"/>
          <p:cNvSpPr/>
          <p:nvPr/>
        </p:nvSpPr>
        <p:spPr>
          <a:xfrm>
            <a:off x="15544800" y="1783080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7" name="Text 74"/>
          <p:cNvSpPr/>
          <p:nvPr/>
        </p:nvSpPr>
        <p:spPr>
          <a:xfrm>
            <a:off x="16002000" y="17830800"/>
            <a:ext cx="1334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Full RL Metrics (Standard Env, 100ep)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8" name="Text 75"/>
          <p:cNvSpPr/>
          <p:nvPr/>
        </p:nvSpPr>
        <p:spPr>
          <a:xfrm>
            <a:off x="15773400" y="18562320"/>
            <a:ext cx="5515560" cy="3654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Metric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9" name="Text 76"/>
          <p:cNvSpPr/>
          <p:nvPr/>
        </p:nvSpPr>
        <p:spPr>
          <a:xfrm>
            <a:off x="21289320" y="18562320"/>
            <a:ext cx="3939480" cy="3654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Baseline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0" name="Text 77"/>
          <p:cNvSpPr/>
          <p:nvPr/>
        </p:nvSpPr>
        <p:spPr>
          <a:xfrm>
            <a:off x="25229520" y="18562320"/>
            <a:ext cx="3939480" cy="3654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STPS v2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1" name="Text 78"/>
          <p:cNvSpPr/>
          <p:nvPr/>
        </p:nvSpPr>
        <p:spPr>
          <a:xfrm>
            <a:off x="15773400" y="18928080"/>
            <a:ext cx="55155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Success Rate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2" name="Text 79"/>
          <p:cNvSpPr/>
          <p:nvPr/>
        </p:nvSpPr>
        <p:spPr>
          <a:xfrm>
            <a:off x="21289320" y="18928080"/>
            <a:ext cx="3939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3" name="Text 80"/>
          <p:cNvSpPr/>
          <p:nvPr/>
        </p:nvSpPr>
        <p:spPr>
          <a:xfrm>
            <a:off x="25229520" y="18928080"/>
            <a:ext cx="3939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81%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4" name="Text 81"/>
          <p:cNvSpPr/>
          <p:nvPr/>
        </p:nvSpPr>
        <p:spPr>
          <a:xfrm>
            <a:off x="15773400" y="19293840"/>
            <a:ext cx="551556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Collision Rate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5" name="Text 82"/>
          <p:cNvSpPr/>
          <p:nvPr/>
        </p:nvSpPr>
        <p:spPr>
          <a:xfrm>
            <a:off x="21289320" y="19293840"/>
            <a:ext cx="393948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19%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6" name="Text 83"/>
          <p:cNvSpPr/>
          <p:nvPr/>
        </p:nvSpPr>
        <p:spPr>
          <a:xfrm>
            <a:off x="25229520" y="19293840"/>
            <a:ext cx="393948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19%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7" name="Text 84"/>
          <p:cNvSpPr/>
          <p:nvPr/>
        </p:nvSpPr>
        <p:spPr>
          <a:xfrm>
            <a:off x="15773400" y="19659600"/>
            <a:ext cx="55155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Avg Reward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8" name="Text 85"/>
          <p:cNvSpPr/>
          <p:nvPr/>
        </p:nvSpPr>
        <p:spPr>
          <a:xfrm>
            <a:off x="21289320" y="19659600"/>
            <a:ext cx="3939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63.5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9" name="Text 86"/>
          <p:cNvSpPr/>
          <p:nvPr/>
        </p:nvSpPr>
        <p:spPr>
          <a:xfrm>
            <a:off x="25229520" y="19659600"/>
            <a:ext cx="3939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65.6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0" name="Text 87"/>
          <p:cNvSpPr/>
          <p:nvPr/>
        </p:nvSpPr>
        <p:spPr>
          <a:xfrm>
            <a:off x="15773400" y="20025360"/>
            <a:ext cx="551556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Avg Path Length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1" name="Text 88"/>
          <p:cNvSpPr/>
          <p:nvPr/>
        </p:nvSpPr>
        <p:spPr>
          <a:xfrm>
            <a:off x="21289320" y="20025360"/>
            <a:ext cx="393948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4.13m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2" name="Text 89"/>
          <p:cNvSpPr/>
          <p:nvPr/>
        </p:nvSpPr>
        <p:spPr>
          <a:xfrm>
            <a:off x="25229520" y="20025360"/>
            <a:ext cx="393948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5.59m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3" name="Text 90"/>
          <p:cNvSpPr/>
          <p:nvPr/>
        </p:nvSpPr>
        <p:spPr>
          <a:xfrm>
            <a:off x="15773400" y="20391120"/>
            <a:ext cx="55155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Path Efficiency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4" name="Text 91"/>
          <p:cNvSpPr/>
          <p:nvPr/>
        </p:nvSpPr>
        <p:spPr>
          <a:xfrm>
            <a:off x="21289320" y="20391120"/>
            <a:ext cx="3939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0.93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5" name="Text 92"/>
          <p:cNvSpPr/>
          <p:nvPr/>
        </p:nvSpPr>
        <p:spPr>
          <a:xfrm>
            <a:off x="25229520" y="20391120"/>
            <a:ext cx="3939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0.81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6" name="Text 93"/>
          <p:cNvSpPr/>
          <p:nvPr/>
        </p:nvSpPr>
        <p:spPr>
          <a:xfrm>
            <a:off x="15773400" y="20756880"/>
            <a:ext cx="551556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Avg Steps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Text 94"/>
          <p:cNvSpPr/>
          <p:nvPr/>
        </p:nvSpPr>
        <p:spPr>
          <a:xfrm>
            <a:off x="21289320" y="20756880"/>
            <a:ext cx="393948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32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8" name="Text 95"/>
          <p:cNvSpPr/>
          <p:nvPr/>
        </p:nvSpPr>
        <p:spPr>
          <a:xfrm>
            <a:off x="25229520" y="20756880"/>
            <a:ext cx="3939480" cy="3654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41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5590520" y="21214080"/>
            <a:ext cx="1376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STPS trades path efficiency (0.93→0.81) for robustness: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longer paths due to escape detours, but zero catastrophic failures.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Shape 97"/>
          <p:cNvSpPr/>
          <p:nvPr/>
        </p:nvSpPr>
        <p:spPr>
          <a:xfrm>
            <a:off x="640080" y="22677120"/>
            <a:ext cx="28986120" cy="64004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98"/>
          <p:cNvSpPr/>
          <p:nvPr/>
        </p:nvSpPr>
        <p:spPr>
          <a:xfrm>
            <a:off x="777240" y="22814280"/>
            <a:ext cx="2871180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99"/>
          <p:cNvSpPr/>
          <p:nvPr/>
        </p:nvSpPr>
        <p:spPr>
          <a:xfrm>
            <a:off x="868680" y="2286000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3" name="Text 100"/>
          <p:cNvSpPr/>
          <p:nvPr/>
        </p:nvSpPr>
        <p:spPr>
          <a:xfrm>
            <a:off x="1325880" y="22860000"/>
            <a:ext cx="2802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Main Results: STPS Outperforms All Single Policies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4" name="Text 101"/>
          <p:cNvSpPr/>
          <p:nvPr/>
        </p:nvSpPr>
        <p:spPr>
          <a:xfrm>
            <a:off x="1325880" y="23591520"/>
            <a:ext cx="2030760" cy="78336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Method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 102"/>
          <p:cNvSpPr/>
          <p:nvPr/>
        </p:nvSpPr>
        <p:spPr>
          <a:xfrm>
            <a:off x="3357000" y="23591520"/>
            <a:ext cx="1269000" cy="78336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Standard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6" name="Text 103"/>
          <p:cNvSpPr/>
          <p:nvPr/>
        </p:nvSpPr>
        <p:spPr>
          <a:xfrm>
            <a:off x="4626000" y="23591520"/>
            <a:ext cx="1269360" cy="78336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S1 U-trap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7" name="Text 104"/>
          <p:cNvSpPr/>
          <p:nvPr/>
        </p:nvSpPr>
        <p:spPr>
          <a:xfrm>
            <a:off x="5895360" y="23591520"/>
            <a:ext cx="1269360" cy="78336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S2 Double-U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8" name="Text 105"/>
          <p:cNvSpPr/>
          <p:nvPr/>
        </p:nvSpPr>
        <p:spPr>
          <a:xfrm>
            <a:off x="7165080" y="23591520"/>
            <a:ext cx="1269000" cy="78336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S3 Narrow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9" name="Text 106"/>
          <p:cNvSpPr/>
          <p:nvPr/>
        </p:nvSpPr>
        <p:spPr>
          <a:xfrm>
            <a:off x="8434440" y="23591520"/>
            <a:ext cx="1269000" cy="78336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S5 Corridor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Text 107"/>
          <p:cNvSpPr/>
          <p:nvPr/>
        </p:nvSpPr>
        <p:spPr>
          <a:xfrm>
            <a:off x="9703440" y="23591520"/>
            <a:ext cx="1269360" cy="78336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Scenario Avg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1" name="Text 108"/>
          <p:cNvSpPr/>
          <p:nvPr/>
        </p:nvSpPr>
        <p:spPr>
          <a:xfrm>
            <a:off x="1325880" y="24375600"/>
            <a:ext cx="20307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CNNTD3 baseline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2" name="Text 109"/>
          <p:cNvSpPr/>
          <p:nvPr/>
        </p:nvSpPr>
        <p:spPr>
          <a:xfrm>
            <a:off x="3357000" y="2437560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87%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3" name="Text 110"/>
          <p:cNvSpPr/>
          <p:nvPr/>
        </p:nvSpPr>
        <p:spPr>
          <a:xfrm>
            <a:off x="4626000" y="2437560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4" name="Text 111"/>
          <p:cNvSpPr/>
          <p:nvPr/>
        </p:nvSpPr>
        <p:spPr>
          <a:xfrm>
            <a:off x="5895360" y="2437560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69±4%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5" name="Text 112"/>
          <p:cNvSpPr/>
          <p:nvPr/>
        </p:nvSpPr>
        <p:spPr>
          <a:xfrm>
            <a:off x="7165080" y="2437560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6" name="Text 113"/>
          <p:cNvSpPr/>
          <p:nvPr/>
        </p:nvSpPr>
        <p:spPr>
          <a:xfrm>
            <a:off x="8434440" y="2437560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7" name="Text 114"/>
          <p:cNvSpPr/>
          <p:nvPr/>
        </p:nvSpPr>
        <p:spPr>
          <a:xfrm>
            <a:off x="9703440" y="2437560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67%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8" name="Text 115"/>
          <p:cNvSpPr/>
          <p:nvPr/>
        </p:nvSpPr>
        <p:spPr>
          <a:xfrm>
            <a:off x="1325880" y="25159320"/>
            <a:ext cx="20307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RCPG (GRU)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9" name="Text 116"/>
          <p:cNvSpPr/>
          <p:nvPr/>
        </p:nvSpPr>
        <p:spPr>
          <a:xfrm>
            <a:off x="3357000" y="25159320"/>
            <a:ext cx="126900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88%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0" name="Text 117"/>
          <p:cNvSpPr/>
          <p:nvPr/>
        </p:nvSpPr>
        <p:spPr>
          <a:xfrm>
            <a:off x="4626000" y="25159320"/>
            <a:ext cx="12693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1" name="Text 118"/>
          <p:cNvSpPr/>
          <p:nvPr/>
        </p:nvSpPr>
        <p:spPr>
          <a:xfrm>
            <a:off x="5895360" y="25159320"/>
            <a:ext cx="12693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2" name="Text 119"/>
          <p:cNvSpPr/>
          <p:nvPr/>
        </p:nvSpPr>
        <p:spPr>
          <a:xfrm>
            <a:off x="7165080" y="25159320"/>
            <a:ext cx="126900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75±0%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3" name="Text 120"/>
          <p:cNvSpPr/>
          <p:nvPr/>
        </p:nvSpPr>
        <p:spPr>
          <a:xfrm>
            <a:off x="8434440" y="25159320"/>
            <a:ext cx="126900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4" name="Text 121"/>
          <p:cNvSpPr/>
          <p:nvPr/>
        </p:nvSpPr>
        <p:spPr>
          <a:xfrm>
            <a:off x="9703440" y="25159320"/>
            <a:ext cx="12693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44%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5" name="Text 122"/>
          <p:cNvSpPr/>
          <p:nvPr/>
        </p:nvSpPr>
        <p:spPr>
          <a:xfrm>
            <a:off x="1325880" y="25942680"/>
            <a:ext cx="20307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Curriculum only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6" name="Text 123"/>
          <p:cNvSpPr/>
          <p:nvPr/>
        </p:nvSpPr>
        <p:spPr>
          <a:xfrm>
            <a:off x="3357000" y="2594268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74%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7" name="Text 124"/>
          <p:cNvSpPr/>
          <p:nvPr/>
        </p:nvSpPr>
        <p:spPr>
          <a:xfrm>
            <a:off x="4626000" y="2594268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8" name="Text 125"/>
          <p:cNvSpPr/>
          <p:nvPr/>
        </p:nvSpPr>
        <p:spPr>
          <a:xfrm>
            <a:off x="5895360" y="2594268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9" name="Text 126"/>
          <p:cNvSpPr/>
          <p:nvPr/>
        </p:nvSpPr>
        <p:spPr>
          <a:xfrm>
            <a:off x="7165080" y="2594268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8±0%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0" name="Text 127"/>
          <p:cNvSpPr/>
          <p:nvPr/>
        </p:nvSpPr>
        <p:spPr>
          <a:xfrm>
            <a:off x="8434440" y="2594268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1" name="Text 128"/>
          <p:cNvSpPr/>
          <p:nvPr/>
        </p:nvSpPr>
        <p:spPr>
          <a:xfrm>
            <a:off x="9703440" y="2594268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52%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2" name="Text 129"/>
          <p:cNvSpPr/>
          <p:nvPr/>
        </p:nvSpPr>
        <p:spPr>
          <a:xfrm>
            <a:off x="1325880" y="26726400"/>
            <a:ext cx="20307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Exploration (πE)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3" name="Text 130"/>
          <p:cNvSpPr/>
          <p:nvPr/>
        </p:nvSpPr>
        <p:spPr>
          <a:xfrm>
            <a:off x="3357000" y="26726400"/>
            <a:ext cx="126900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4" name="Text 131"/>
          <p:cNvSpPr/>
          <p:nvPr/>
        </p:nvSpPr>
        <p:spPr>
          <a:xfrm>
            <a:off x="4626000" y="26726400"/>
            <a:ext cx="12693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83±0%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5" name="Text 132"/>
          <p:cNvSpPr/>
          <p:nvPr/>
        </p:nvSpPr>
        <p:spPr>
          <a:xfrm>
            <a:off x="5895360" y="26726400"/>
            <a:ext cx="12693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6" name="Text 133"/>
          <p:cNvSpPr/>
          <p:nvPr/>
        </p:nvSpPr>
        <p:spPr>
          <a:xfrm>
            <a:off x="7165080" y="26726400"/>
            <a:ext cx="126900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7" name="Text 134"/>
          <p:cNvSpPr/>
          <p:nvPr/>
        </p:nvSpPr>
        <p:spPr>
          <a:xfrm>
            <a:off x="8434440" y="26726400"/>
            <a:ext cx="126900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8" name="Text 135"/>
          <p:cNvSpPr/>
          <p:nvPr/>
        </p:nvSpPr>
        <p:spPr>
          <a:xfrm>
            <a:off x="9703440" y="26726400"/>
            <a:ext cx="1269360" cy="783360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71%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9" name="Text 136"/>
          <p:cNvSpPr/>
          <p:nvPr/>
        </p:nvSpPr>
        <p:spPr>
          <a:xfrm>
            <a:off x="1325880" y="27510480"/>
            <a:ext cx="20307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Annealed (πP)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0" name="Text 137"/>
          <p:cNvSpPr/>
          <p:nvPr/>
        </p:nvSpPr>
        <p:spPr>
          <a:xfrm>
            <a:off x="3357000" y="2751048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82%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1" name="Text 138"/>
          <p:cNvSpPr/>
          <p:nvPr/>
        </p:nvSpPr>
        <p:spPr>
          <a:xfrm>
            <a:off x="4626000" y="2751048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2" name="Text 139"/>
          <p:cNvSpPr/>
          <p:nvPr/>
        </p:nvSpPr>
        <p:spPr>
          <a:xfrm>
            <a:off x="5895360" y="2751048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3" name="Text 140"/>
          <p:cNvSpPr/>
          <p:nvPr/>
        </p:nvSpPr>
        <p:spPr>
          <a:xfrm>
            <a:off x="7165080" y="2751048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4" name="Text 141"/>
          <p:cNvSpPr/>
          <p:nvPr/>
        </p:nvSpPr>
        <p:spPr>
          <a:xfrm>
            <a:off x="8434440" y="27510480"/>
            <a:ext cx="126900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5" name="Text 142"/>
          <p:cNvSpPr/>
          <p:nvPr/>
        </p:nvSpPr>
        <p:spPr>
          <a:xfrm>
            <a:off x="9703440" y="27510480"/>
            <a:ext cx="1269360" cy="7830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75%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6" name="Text 143"/>
          <p:cNvSpPr/>
          <p:nvPr/>
        </p:nvSpPr>
        <p:spPr>
          <a:xfrm>
            <a:off x="1325880" y="28294200"/>
            <a:ext cx="2030760" cy="783360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b6cb0"/>
                </a:solidFill>
                <a:latin typeface="Arial"/>
                <a:ea typeface="Arial"/>
              </a:rPr>
              <a:t>STPS v2 (ours)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7" name="Text 144"/>
          <p:cNvSpPr/>
          <p:nvPr/>
        </p:nvSpPr>
        <p:spPr>
          <a:xfrm>
            <a:off x="3357000" y="28294200"/>
            <a:ext cx="1269000" cy="783360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b6cb0"/>
                </a:solidFill>
                <a:latin typeface="Arial"/>
                <a:ea typeface="Arial"/>
              </a:rPr>
              <a:t>88%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8" name="Text 145"/>
          <p:cNvSpPr/>
          <p:nvPr/>
        </p:nvSpPr>
        <p:spPr>
          <a:xfrm>
            <a:off x="4626000" y="28294200"/>
            <a:ext cx="1269360" cy="783360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b6cb0"/>
                </a:solidFill>
                <a:latin typeface="Arial"/>
                <a:ea typeface="Arial"/>
              </a:rPr>
              <a:t>75±7%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9" name="Text 146"/>
          <p:cNvSpPr/>
          <p:nvPr/>
        </p:nvSpPr>
        <p:spPr>
          <a:xfrm>
            <a:off x="5895360" y="28294200"/>
            <a:ext cx="1269360" cy="783360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0" name="Text 147"/>
          <p:cNvSpPr/>
          <p:nvPr/>
        </p:nvSpPr>
        <p:spPr>
          <a:xfrm>
            <a:off x="7165080" y="28294200"/>
            <a:ext cx="1269000" cy="783360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1" name="Text 148"/>
          <p:cNvSpPr/>
          <p:nvPr/>
        </p:nvSpPr>
        <p:spPr>
          <a:xfrm>
            <a:off x="8434440" y="28294200"/>
            <a:ext cx="1269000" cy="783360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100±0%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2" name="Text 149"/>
          <p:cNvSpPr/>
          <p:nvPr/>
        </p:nvSpPr>
        <p:spPr>
          <a:xfrm>
            <a:off x="9703440" y="28294200"/>
            <a:ext cx="1269360" cy="783360"/>
          </a:xfrm>
          <a:prstGeom prst="rect">
            <a:avLst/>
          </a:prstGeom>
          <a:solidFill>
            <a:srgbClr val="ebf4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25560" tIns="507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b6cb0"/>
                </a:solidFill>
                <a:latin typeface="Arial"/>
                <a:ea typeface="Arial"/>
              </a:rPr>
              <a:t>94%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93" name="Image 1" descr="/home/claude/poster_imgs/barchart.png"/>
          <p:cNvPicPr/>
          <p:nvPr/>
        </p:nvPicPr>
        <p:blipFill>
          <a:blip r:embed="rId2"/>
          <a:stretch/>
        </p:blipFill>
        <p:spPr>
          <a:xfrm>
            <a:off x="12115800" y="23459400"/>
            <a:ext cx="16002000" cy="5600520"/>
          </a:xfrm>
          <a:prstGeom prst="rect">
            <a:avLst/>
          </a:prstGeom>
          <a:ln w="0">
            <a:noFill/>
          </a:ln>
        </p:spPr>
      </p:pic>
      <p:sp>
        <p:nvSpPr>
          <p:cNvPr id="194" name="Shape 150"/>
          <p:cNvSpPr/>
          <p:nvPr/>
        </p:nvSpPr>
        <p:spPr>
          <a:xfrm>
            <a:off x="640080" y="29352240"/>
            <a:ext cx="28986120" cy="438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5" name="Shape 151"/>
          <p:cNvSpPr/>
          <p:nvPr/>
        </p:nvSpPr>
        <p:spPr>
          <a:xfrm>
            <a:off x="777240" y="29489400"/>
            <a:ext cx="2871180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52"/>
          <p:cNvSpPr/>
          <p:nvPr/>
        </p:nvSpPr>
        <p:spPr>
          <a:xfrm>
            <a:off x="868680" y="2953512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7" name="Text 153"/>
          <p:cNvSpPr/>
          <p:nvPr/>
        </p:nvSpPr>
        <p:spPr>
          <a:xfrm>
            <a:off x="1325880" y="29535120"/>
            <a:ext cx="2802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Success &amp; Failure Case Analysis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8" name="Image 2" descr="/home/claude/poster_imgs/1.png"/>
          <p:cNvPicPr/>
          <p:nvPr/>
        </p:nvPicPr>
        <p:blipFill>
          <a:blip r:embed="rId3"/>
          <a:stretch/>
        </p:blipFill>
        <p:spPr>
          <a:xfrm>
            <a:off x="1005840" y="30175200"/>
            <a:ext cx="4586760" cy="4357440"/>
          </a:xfrm>
          <a:prstGeom prst="rect">
            <a:avLst/>
          </a:prstGeom>
          <a:ln w="0">
            <a:noFill/>
          </a:ln>
        </p:spPr>
      </p:pic>
      <p:sp>
        <p:nvSpPr>
          <p:cNvPr id="199" name="Text 154"/>
          <p:cNvSpPr/>
          <p:nvPr/>
        </p:nvSpPr>
        <p:spPr>
          <a:xfrm>
            <a:off x="1005840" y="34578720"/>
            <a:ext cx="458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c53030"/>
                </a:solidFill>
                <a:latin typeface="Calibri"/>
                <a:ea typeface="Calibri"/>
              </a:rPr>
              <a:t>Baseline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c53030"/>
                </a:solidFill>
                <a:latin typeface="Calibri"/>
                <a:ea typeface="Calibri"/>
              </a:rPr>
              <a:t>U-trap: TIMEOUT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0" name="Image 3" descr="/home/claude/poster_imgs/2.png"/>
          <p:cNvPicPr/>
          <p:nvPr/>
        </p:nvPicPr>
        <p:blipFill>
          <a:blip r:embed="rId4"/>
          <a:stretch/>
        </p:blipFill>
        <p:spPr>
          <a:xfrm>
            <a:off x="5684400" y="30175200"/>
            <a:ext cx="4586760" cy="4357440"/>
          </a:xfrm>
          <a:prstGeom prst="rect">
            <a:avLst/>
          </a:prstGeom>
          <a:ln w="0">
            <a:noFill/>
          </a:ln>
        </p:spPr>
      </p:pic>
      <p:sp>
        <p:nvSpPr>
          <p:cNvPr id="201" name="Text 155"/>
          <p:cNvSpPr/>
          <p:nvPr/>
        </p:nvSpPr>
        <p:spPr>
          <a:xfrm>
            <a:off x="5684400" y="34578720"/>
            <a:ext cx="458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c53030"/>
                </a:solidFill>
                <a:latin typeface="Calibri"/>
                <a:ea typeface="Calibri"/>
              </a:rPr>
              <a:t>πE Narrow: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c53030"/>
                </a:solidFill>
                <a:latin typeface="Calibri"/>
                <a:ea typeface="Calibri"/>
              </a:rPr>
              <a:t>COLLISION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2" name="Image 4" descr="/home/claude/poster_imgs/3.png"/>
          <p:cNvPicPr/>
          <p:nvPr/>
        </p:nvPicPr>
        <p:blipFill>
          <a:blip r:embed="rId5"/>
          <a:stretch/>
        </p:blipFill>
        <p:spPr>
          <a:xfrm>
            <a:off x="10363320" y="30175200"/>
            <a:ext cx="4586760" cy="4357440"/>
          </a:xfrm>
          <a:prstGeom prst="rect">
            <a:avLst/>
          </a:prstGeom>
          <a:ln w="0">
            <a:noFill/>
          </a:ln>
        </p:spPr>
      </p:pic>
      <p:sp>
        <p:nvSpPr>
          <p:cNvPr id="203" name="Text 156"/>
          <p:cNvSpPr/>
          <p:nvPr/>
        </p:nvSpPr>
        <p:spPr>
          <a:xfrm>
            <a:off x="10363320" y="34578720"/>
            <a:ext cx="458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7791f"/>
                </a:solidFill>
                <a:latin typeface="Calibri"/>
                <a:ea typeface="Calibri"/>
              </a:rPr>
              <a:t>Annealed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7791f"/>
                </a:solidFill>
                <a:latin typeface="Calibri"/>
                <a:ea typeface="Calibri"/>
              </a:rPr>
              <a:t>U-trap: TIMEOUT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4" name="Image 5" descr="/home/claude/poster_imgs/4.png"/>
          <p:cNvPicPr/>
          <p:nvPr/>
        </p:nvPicPr>
        <p:blipFill>
          <a:blip r:embed="rId6"/>
          <a:stretch/>
        </p:blipFill>
        <p:spPr>
          <a:xfrm>
            <a:off x="15041880" y="30175200"/>
            <a:ext cx="4586760" cy="4357440"/>
          </a:xfrm>
          <a:prstGeom prst="rect">
            <a:avLst/>
          </a:prstGeom>
          <a:ln w="0">
            <a:noFill/>
          </a:ln>
        </p:spPr>
      </p:pic>
      <p:sp>
        <p:nvSpPr>
          <p:cNvPr id="205" name="Text 157"/>
          <p:cNvSpPr/>
          <p:nvPr/>
        </p:nvSpPr>
        <p:spPr>
          <a:xfrm>
            <a:off x="15041880" y="34578720"/>
            <a:ext cx="458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6749"/>
                </a:solidFill>
                <a:latin typeface="Calibri"/>
                <a:ea typeface="Calibri"/>
              </a:rPr>
              <a:t>STPS U-trap: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6749"/>
                </a:solidFill>
                <a:latin typeface="Calibri"/>
                <a:ea typeface="Calibri"/>
              </a:rPr>
              <a:t>SUCCESS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6" name="Image 6" descr="/home/claude/poster_imgs/5.png"/>
          <p:cNvPicPr/>
          <p:nvPr/>
        </p:nvPicPr>
        <p:blipFill>
          <a:blip r:embed="rId7"/>
          <a:stretch/>
        </p:blipFill>
        <p:spPr>
          <a:xfrm>
            <a:off x="19720440" y="30175200"/>
            <a:ext cx="4586760" cy="4357440"/>
          </a:xfrm>
          <a:prstGeom prst="rect">
            <a:avLst/>
          </a:prstGeom>
          <a:ln w="0">
            <a:noFill/>
          </a:ln>
        </p:spPr>
      </p:pic>
      <p:sp>
        <p:nvSpPr>
          <p:cNvPr id="207" name="Text 158"/>
          <p:cNvSpPr/>
          <p:nvPr/>
        </p:nvSpPr>
        <p:spPr>
          <a:xfrm>
            <a:off x="19720440" y="34578720"/>
            <a:ext cx="458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6749"/>
                </a:solidFill>
                <a:latin typeface="Calibri"/>
                <a:ea typeface="Calibri"/>
              </a:rPr>
              <a:t>STPS Narrow: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6749"/>
                </a:solidFill>
                <a:latin typeface="Calibri"/>
                <a:ea typeface="Calibri"/>
              </a:rPr>
              <a:t>SUCCESS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8" name="Image 7" descr="/home/claude/poster_imgs/6.png"/>
          <p:cNvPicPr/>
          <p:nvPr/>
        </p:nvPicPr>
        <p:blipFill>
          <a:blip r:embed="rId8"/>
          <a:stretch/>
        </p:blipFill>
        <p:spPr>
          <a:xfrm>
            <a:off x="24399360" y="30175200"/>
            <a:ext cx="4586760" cy="4357440"/>
          </a:xfrm>
          <a:prstGeom prst="rect">
            <a:avLst/>
          </a:prstGeom>
          <a:ln w="0">
            <a:noFill/>
          </a:ln>
        </p:spPr>
      </p:pic>
      <p:sp>
        <p:nvSpPr>
          <p:cNvPr id="209" name="Text 159"/>
          <p:cNvSpPr/>
          <p:nvPr/>
        </p:nvSpPr>
        <p:spPr>
          <a:xfrm>
            <a:off x="24399360" y="34578720"/>
            <a:ext cx="4586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6749"/>
                </a:solidFill>
                <a:latin typeface="Calibri"/>
                <a:ea typeface="Calibri"/>
              </a:rPr>
              <a:t>STPS Standard: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6749"/>
                </a:solidFill>
                <a:latin typeface="Calibri"/>
                <a:ea typeface="Calibri"/>
              </a:rPr>
              <a:t>SUCCESS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10" name="Shape 160"/>
          <p:cNvSpPr/>
          <p:nvPr/>
        </p:nvSpPr>
        <p:spPr>
          <a:xfrm>
            <a:off x="640080" y="34015680"/>
            <a:ext cx="14310000" cy="384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Shape 161"/>
          <p:cNvSpPr/>
          <p:nvPr/>
        </p:nvSpPr>
        <p:spPr>
          <a:xfrm>
            <a:off x="777240" y="34152840"/>
            <a:ext cx="1403568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62"/>
          <p:cNvSpPr/>
          <p:nvPr/>
        </p:nvSpPr>
        <p:spPr>
          <a:xfrm>
            <a:off x="868680" y="341985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8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3" name="Text 163"/>
          <p:cNvSpPr/>
          <p:nvPr/>
        </p:nvSpPr>
        <p:spPr>
          <a:xfrm>
            <a:off x="1325880" y="34198560"/>
            <a:ext cx="1334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Training Curves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4" name="Image 8" descr="/home/claude/poster_imgs/training.png"/>
          <p:cNvPicPr/>
          <p:nvPr/>
        </p:nvPicPr>
        <p:blipFill>
          <a:blip r:embed="rId9"/>
          <a:stretch/>
        </p:blipFill>
        <p:spPr>
          <a:xfrm>
            <a:off x="822960" y="34975800"/>
            <a:ext cx="13761360" cy="5229000"/>
          </a:xfrm>
          <a:prstGeom prst="rect">
            <a:avLst/>
          </a:prstGeom>
          <a:ln w="0">
            <a:noFill/>
          </a:ln>
        </p:spPr>
      </p:pic>
      <p:sp>
        <p:nvSpPr>
          <p:cNvPr id="215" name="Text 164"/>
          <p:cNvSpPr/>
          <p:nvPr/>
        </p:nvSpPr>
        <p:spPr>
          <a:xfrm>
            <a:off x="914400" y="40159440"/>
            <a:ext cx="1376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Left: Baseline converges to ~87% SR; Improved (πE) to ~78% (exploration bonus reduces standard SR).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Right: Annealing v7 — SR oscillates as exploration coefficient decays.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6" name="Shape 165"/>
          <p:cNvSpPr/>
          <p:nvPr/>
        </p:nvSpPr>
        <p:spPr>
          <a:xfrm>
            <a:off x="15316200" y="34015680"/>
            <a:ext cx="14310000" cy="384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166"/>
          <p:cNvSpPr/>
          <p:nvPr/>
        </p:nvSpPr>
        <p:spPr>
          <a:xfrm>
            <a:off x="15453360" y="34152840"/>
            <a:ext cx="1403568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67"/>
          <p:cNvSpPr/>
          <p:nvPr/>
        </p:nvSpPr>
        <p:spPr>
          <a:xfrm>
            <a:off x="15544800" y="341985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9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9" name="Text 168"/>
          <p:cNvSpPr/>
          <p:nvPr/>
        </p:nvSpPr>
        <p:spPr>
          <a:xfrm>
            <a:off x="16002000" y="34198560"/>
            <a:ext cx="1334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Parameter Sensitivity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0" name="Text 169"/>
          <p:cNvSpPr/>
          <p:nvPr/>
        </p:nvSpPr>
        <p:spPr>
          <a:xfrm>
            <a:off x="16047720" y="34930080"/>
            <a:ext cx="3120120" cy="36540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70"/>
          <p:cNvSpPr/>
          <p:nvPr/>
        </p:nvSpPr>
        <p:spPr>
          <a:xfrm>
            <a:off x="19168200" y="34930080"/>
            <a:ext cx="3120120" cy="36540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δ=0.10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2" name="Text 171"/>
          <p:cNvSpPr/>
          <p:nvPr/>
        </p:nvSpPr>
        <p:spPr>
          <a:xfrm>
            <a:off x="22288680" y="34930080"/>
            <a:ext cx="3120120" cy="36540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δ=0.15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3" name="Text 172"/>
          <p:cNvSpPr/>
          <p:nvPr/>
        </p:nvSpPr>
        <p:spPr>
          <a:xfrm>
            <a:off x="25408800" y="34930080"/>
            <a:ext cx="3120120" cy="36540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δ=0.20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4" name="Text 173"/>
          <p:cNvSpPr/>
          <p:nvPr/>
        </p:nvSpPr>
        <p:spPr>
          <a:xfrm>
            <a:off x="16047720" y="35295840"/>
            <a:ext cx="3120120" cy="36540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W=15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5" name="Text 174"/>
          <p:cNvSpPr/>
          <p:nvPr/>
        </p:nvSpPr>
        <p:spPr>
          <a:xfrm>
            <a:off x="19168200" y="35295840"/>
            <a:ext cx="3120120" cy="365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42/100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6" name="Text 175"/>
          <p:cNvSpPr/>
          <p:nvPr/>
        </p:nvSpPr>
        <p:spPr>
          <a:xfrm>
            <a:off x="22288680" y="35295840"/>
            <a:ext cx="3120120" cy="365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42/100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7" name="Text 176"/>
          <p:cNvSpPr/>
          <p:nvPr/>
        </p:nvSpPr>
        <p:spPr>
          <a:xfrm>
            <a:off x="25408800" y="35295840"/>
            <a:ext cx="3120120" cy="365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67/100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8" name="Text 177"/>
          <p:cNvSpPr/>
          <p:nvPr/>
        </p:nvSpPr>
        <p:spPr>
          <a:xfrm>
            <a:off x="16047720" y="35661600"/>
            <a:ext cx="3120120" cy="36540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W=20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9" name="Text 178"/>
          <p:cNvSpPr/>
          <p:nvPr/>
        </p:nvSpPr>
        <p:spPr>
          <a:xfrm>
            <a:off x="19168200" y="35661600"/>
            <a:ext cx="3120120" cy="365400"/>
          </a:xfrm>
          <a:prstGeom prst="rect">
            <a:avLst/>
          </a:prstGeom>
          <a:solidFill>
            <a:srgbClr val="e6ff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0" name="Text 179"/>
          <p:cNvSpPr/>
          <p:nvPr/>
        </p:nvSpPr>
        <p:spPr>
          <a:xfrm>
            <a:off x="22288680" y="35661600"/>
            <a:ext cx="3120120" cy="365400"/>
          </a:xfrm>
          <a:prstGeom prst="rect">
            <a:avLst/>
          </a:prstGeom>
          <a:solidFill>
            <a:srgbClr val="e6ff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1" name="Text 180"/>
          <p:cNvSpPr/>
          <p:nvPr/>
        </p:nvSpPr>
        <p:spPr>
          <a:xfrm>
            <a:off x="25408800" y="35661600"/>
            <a:ext cx="3120120" cy="365400"/>
          </a:xfrm>
          <a:prstGeom prst="rect">
            <a:avLst/>
          </a:prstGeom>
          <a:solidFill>
            <a:srgbClr val="e6fffa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2" name="Text 181"/>
          <p:cNvSpPr/>
          <p:nvPr/>
        </p:nvSpPr>
        <p:spPr>
          <a:xfrm>
            <a:off x="16047720" y="36027360"/>
            <a:ext cx="3120120" cy="365400"/>
          </a:xfrm>
          <a:prstGeom prst="rect">
            <a:avLst/>
          </a:prstGeom>
          <a:solidFill>
            <a:srgbClr val="1a365d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W=30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3" name="Text 182"/>
          <p:cNvSpPr/>
          <p:nvPr/>
        </p:nvSpPr>
        <p:spPr>
          <a:xfrm>
            <a:off x="19168200" y="36027360"/>
            <a:ext cx="3120120" cy="365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0/100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4" name="Text 183"/>
          <p:cNvSpPr/>
          <p:nvPr/>
        </p:nvSpPr>
        <p:spPr>
          <a:xfrm>
            <a:off x="22288680" y="36027360"/>
            <a:ext cx="3120120" cy="365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17/100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5" name="Text 184"/>
          <p:cNvSpPr/>
          <p:nvPr/>
        </p:nvSpPr>
        <p:spPr>
          <a:xfrm>
            <a:off x="25408800" y="36027360"/>
            <a:ext cx="3120120" cy="3654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25/100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6" name="Text 185"/>
          <p:cNvSpPr/>
          <p:nvPr/>
        </p:nvSpPr>
        <p:spPr>
          <a:xfrm>
            <a:off x="15590520" y="36576000"/>
            <a:ext cx="1376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6749"/>
                </a:solidFill>
                <a:latin typeface="Calibri"/>
                <a:ea typeface="Calibri"/>
              </a:rPr>
              <a:t>Narrow door = 100% across entire grid → switching never harms precision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6749"/>
                </a:solidFill>
                <a:latin typeface="Calibri"/>
                <a:ea typeface="Calibri"/>
              </a:rPr>
              <a:t>W=20: stable 67% U-trap regardless of δ → no per-env tuning needed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7" name="Text 186"/>
          <p:cNvSpPr/>
          <p:nvPr/>
        </p:nvSpPr>
        <p:spPr>
          <a:xfrm>
            <a:off x="15590520" y="37216080"/>
            <a:ext cx="1376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365d"/>
                </a:solidFill>
                <a:latin typeface="Arial"/>
                <a:ea typeface="Arial"/>
              </a:rPr>
              <a:t>What didn't work: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8" name="Text 187"/>
          <p:cNvSpPr/>
          <p:nvPr/>
        </p:nvSpPr>
        <p:spPr>
          <a:xfrm>
            <a:off x="15590520" y="37444680"/>
            <a:ext cx="1376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STPS v3 (progressive escape): no gain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U-trap specialist model: 83% = original improved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Bottleneck = geometric difficulty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9" name="Shape 188"/>
          <p:cNvSpPr/>
          <p:nvPr/>
        </p:nvSpPr>
        <p:spPr>
          <a:xfrm>
            <a:off x="640080" y="38130480"/>
            <a:ext cx="9478800" cy="384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Shape 189"/>
          <p:cNvSpPr/>
          <p:nvPr/>
        </p:nvSpPr>
        <p:spPr>
          <a:xfrm>
            <a:off x="731520" y="38267640"/>
            <a:ext cx="929592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190"/>
          <p:cNvSpPr/>
          <p:nvPr/>
        </p:nvSpPr>
        <p:spPr>
          <a:xfrm>
            <a:off x="822960" y="383133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2" name="Text 191"/>
          <p:cNvSpPr/>
          <p:nvPr/>
        </p:nvSpPr>
        <p:spPr>
          <a:xfrm>
            <a:off x="1280160" y="38313360"/>
            <a:ext cx="861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Conclusion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3" name="Text 192"/>
          <p:cNvSpPr/>
          <p:nvPr/>
        </p:nvSpPr>
        <p:spPr>
          <a:xfrm>
            <a:off x="822960" y="38907720"/>
            <a:ext cx="91130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1. Exploration rewards create a hard, irreconcilable conflict with precision navigation in DRL.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2. STPS resolves this by composing complementary frozen policies at runtime with stall/oscillation detection.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3. STPS achieves 94% scenario avg (+27pts), 88% standard SR, and is the only method with zero catastrophic failures.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4. The method requires zero additional training and adds negligible (&lt;0.1ms) computational overhead.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4" name="Shape 193"/>
          <p:cNvSpPr/>
          <p:nvPr/>
        </p:nvSpPr>
        <p:spPr>
          <a:xfrm>
            <a:off x="10393560" y="38130480"/>
            <a:ext cx="9478800" cy="384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Shape 194"/>
          <p:cNvSpPr/>
          <p:nvPr/>
        </p:nvSpPr>
        <p:spPr>
          <a:xfrm>
            <a:off x="10485000" y="38267640"/>
            <a:ext cx="929592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95"/>
          <p:cNvSpPr/>
          <p:nvPr/>
        </p:nvSpPr>
        <p:spPr>
          <a:xfrm>
            <a:off x="10576440" y="383133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11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7" name="Text 196"/>
          <p:cNvSpPr/>
          <p:nvPr/>
        </p:nvSpPr>
        <p:spPr>
          <a:xfrm>
            <a:off x="11033640" y="38313360"/>
            <a:ext cx="861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Future Work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8" name="Text 197"/>
          <p:cNvSpPr/>
          <p:nvPr/>
        </p:nvSpPr>
        <p:spPr>
          <a:xfrm>
            <a:off x="10485000" y="38907720"/>
            <a:ext cx="91130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1. Real-robot deployment: Deploy STPS on AgileX LIMO differential-drive platform with onboard LiDAR.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2. Learned switch trigger: Replace hand-designed stall detector with RL-based scene classifier for faster, more accurate switching.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3. Policy library expansion: Add policies for additional failure modes (e.g., dynamic obstacles, multi-robot).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4. Isaac Lab integration: Leverage GPU-parallel simulation for large-scale training and evaluation.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5. PINN-based delay compensation: Physics-informed neural networks for real-time observation delay correction.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9" name="Shape 198"/>
          <p:cNvSpPr/>
          <p:nvPr/>
        </p:nvSpPr>
        <p:spPr>
          <a:xfrm>
            <a:off x="20147400" y="38130480"/>
            <a:ext cx="9478800" cy="384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908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Shape 199"/>
          <p:cNvSpPr/>
          <p:nvPr/>
        </p:nvSpPr>
        <p:spPr>
          <a:xfrm>
            <a:off x="20238840" y="38267640"/>
            <a:ext cx="9295920" cy="5482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200"/>
          <p:cNvSpPr/>
          <p:nvPr/>
        </p:nvSpPr>
        <p:spPr>
          <a:xfrm>
            <a:off x="20330280" y="383133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6cb0"/>
                </a:solidFill>
                <a:latin typeface="Arial"/>
                <a:ea typeface="Arial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2" name="Text 201"/>
          <p:cNvSpPr/>
          <p:nvPr/>
        </p:nvSpPr>
        <p:spPr>
          <a:xfrm>
            <a:off x="20787480" y="38313360"/>
            <a:ext cx="861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Application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3" name="Text 202"/>
          <p:cNvSpPr/>
          <p:nvPr/>
        </p:nvSpPr>
        <p:spPr>
          <a:xfrm>
            <a:off x="20330280" y="38907720"/>
            <a:ext cx="91130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Target platform: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AgileX LIMO (0.322×0.22m), diff-drive, 360° LiDAR, ROS 2 Humble.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Sim-to-real advantages: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STPS switching logic is pure Python if-else — no GPU, no retrain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Both policies use standard LiDAR input, directly transferable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ROS 2 node (dc_neupan_node.py) already written and tested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Deployable scenarios: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Warehouse navigation with shelf dead-ends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Hospital corridors with doorways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Office environments with furniture traps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Any indoor space with concave obstacles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4" name="Shape 203"/>
          <p:cNvSpPr/>
          <p:nvPr/>
        </p:nvSpPr>
        <p:spPr>
          <a:xfrm>
            <a:off x="0" y="42153840"/>
            <a:ext cx="30266280" cy="63972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04"/>
          <p:cNvSpPr/>
          <p:nvPr/>
        </p:nvSpPr>
        <p:spPr>
          <a:xfrm>
            <a:off x="914400" y="42172200"/>
            <a:ext cx="2834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eaecb"/>
                </a:solidFill>
                <a:latin typeface="Calibri"/>
                <a:ea typeface="Calibri"/>
              </a:rPr>
              <a:t>IR-SIM v2.7.5 | PyTorch 2.12 | Seeds: {42, 123, 2026} | Cmd: python eval_stps_v2.py  |  Contact: [email]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2026-07-23T13:22:59Z</dcterms:created>
  <dc:creator>PptxGenJS</dc:creator>
  <dc:description/>
  <dc:language>en-US</dc:language>
  <cp:lastModifiedBy/>
  <dcterms:modified xsi:type="dcterms:W3CDTF">2026-07-28T13:43:00Z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