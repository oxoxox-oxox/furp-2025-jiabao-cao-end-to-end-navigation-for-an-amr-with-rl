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66640" cy="42793920"/>
  <p:notesSz cx="42793920" cy="302666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5029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731520"/>
            <a:ext cx="2743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Stall-Triggered Policy Switching for</a:t>
            </a:r>
            <a:endParaRPr lang="en-US" sz="5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Navigation in Trap Scenarios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743200" y="2743200"/>
            <a:ext cx="2468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complementary policies at runtime to eliminate catastrophic navigation failures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0" y="3657600"/>
            <a:ext cx="2468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  ·  [University Name]  ·  Summer Research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5303520"/>
            <a:ext cx="26517600" cy="182880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394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0" y="6400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avg SR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(+27 vs baseline)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0" y="5394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601200" y="6400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env SR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(matches baseline)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0" y="5394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002000" y="6400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(0% cells)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0" y="5394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2402800" y="6400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7589520"/>
            <a:ext cx="14173200" cy="56692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7772400"/>
            <a:ext cx="138074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784555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7845552"/>
            <a:ext cx="1303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DRL fails in traps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97280" y="8595360"/>
            <a:ext cx="1344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navigation achieves high success in open environments but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fails (0% SR)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trap scenarios requiring temporary retreat from the goal.</a:t>
            </a:r>
            <a:endParaRPr lang="en-US" sz="1800" dirty="0"/>
          </a:p>
        </p:txBody>
      </p:sp>
      <p:pic>
        <p:nvPicPr>
          <p:cNvPr id="20" name="Image 0" descr="/home/claude/poster_imgs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9875520"/>
            <a:ext cx="11430000" cy="11430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5361920" y="7589520"/>
            <a:ext cx="14173200" cy="56692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5544800" y="7772400"/>
            <a:ext cx="138074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23" name="Text 20"/>
          <p:cNvSpPr/>
          <p:nvPr/>
        </p:nvSpPr>
        <p:spPr>
          <a:xfrm>
            <a:off x="15681960" y="784555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6184880" y="7845552"/>
            <a:ext cx="1303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exploration-precision conflict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5727680" y="8595360"/>
            <a:ext cx="1344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bonus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U-trap (0→83%) but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narrow door (100→0%).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Annealing recovers narrow door but loses U-trap. Irreconcilable.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5910560" y="10149840"/>
            <a:ext cx="4622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0533360" y="10149840"/>
            <a:ext cx="21132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2646640" y="10149840"/>
            <a:ext cx="21132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U-trap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4759920" y="10149840"/>
            <a:ext cx="21132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6873200" y="10149840"/>
            <a:ext cx="21132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5910560" y="10533888"/>
            <a:ext cx="4622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20533360" y="10533888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2646640" y="10533888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4759920" y="10533888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6873200" y="10533888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5910560" y="10917936"/>
            <a:ext cx="462280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only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20533360" y="10917936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22646640" y="10917936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24759920" y="10917936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26873200" y="10917936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5910560" y="11301984"/>
            <a:ext cx="4622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(πE)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20533360" y="11301984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22646640" y="11301984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24759920" y="11301984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26873200" y="11301984"/>
            <a:ext cx="21132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5910560" y="11686032"/>
            <a:ext cx="462280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Annealed (πP)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20533360" y="11686032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22646640" y="11686032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24759920" y="11686032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26873200" y="11686032"/>
            <a:ext cx="2113280" cy="38404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15910560" y="12161520"/>
            <a:ext cx="1307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policy avoids all 0% cells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731520" y="13624560"/>
            <a:ext cx="28803600" cy="530352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914400" y="13807440"/>
            <a:ext cx="284378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54" name="Text 51"/>
          <p:cNvSpPr/>
          <p:nvPr/>
        </p:nvSpPr>
        <p:spPr>
          <a:xfrm>
            <a:off x="1051560" y="1388059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55" name="Text 52"/>
          <p:cNvSpPr/>
          <p:nvPr/>
        </p:nvSpPr>
        <p:spPr>
          <a:xfrm>
            <a:off x="1554480" y="13880592"/>
            <a:ext cx="2766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Stall-Triggered Policy Switching (STPS)</a:t>
            </a:r>
            <a:endParaRPr lang="en-US" sz="2800" dirty="0"/>
          </a:p>
        </p:txBody>
      </p:sp>
      <p:sp>
        <p:nvSpPr>
          <p:cNvPr id="56" name="Shape 53"/>
          <p:cNvSpPr/>
          <p:nvPr/>
        </p:nvSpPr>
        <p:spPr>
          <a:xfrm>
            <a:off x="5989320" y="14721840"/>
            <a:ext cx="6400800" cy="2011680"/>
          </a:xfrm>
          <a:prstGeom prst="roundRect">
            <a:avLst>
              <a:gd name="adj" fmla="val 9091"/>
            </a:avLst>
          </a:prstGeom>
          <a:solidFill>
            <a:srgbClr val="EBF8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89320" y="1481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mode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6446520" y="1536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precision policy πP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(standard navigation)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6903720" y="1627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17876520" y="14721840"/>
            <a:ext cx="6400800" cy="201168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7876520" y="1481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mode</a:t>
            </a:r>
            <a:endParaRPr lang="en-US" sz="2200" dirty="0"/>
          </a:p>
        </p:txBody>
      </p:sp>
      <p:sp>
        <p:nvSpPr>
          <p:cNvPr id="62" name="Text 59"/>
          <p:cNvSpPr/>
          <p:nvPr/>
        </p:nvSpPr>
        <p:spPr>
          <a:xfrm>
            <a:off x="18333720" y="1536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exploration policy πE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(novelty-seeking navigation)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18790920" y="1627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12390120" y="15361920"/>
            <a:ext cx="548640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65" name="Text 62"/>
          <p:cNvSpPr/>
          <p:nvPr/>
        </p:nvSpPr>
        <p:spPr>
          <a:xfrm>
            <a:off x="12847320" y="1408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Stall: ‖xₜ − xₜ₋₂₀‖ &lt; 0.15m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oscillation ≥ 5 reversals/12 steps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12390120" y="16367760"/>
            <a:ext cx="5486400" cy="0"/>
          </a:xfrm>
          <a:prstGeom prst="line">
            <a:avLst/>
          </a:prstGeom>
          <a:noFill/>
          <a:ln w="25400">
            <a:solidFill>
              <a:srgbClr val="276749"/>
            </a:solidFill>
            <a:prstDash val="solid"/>
            <a:headEnd type="triangle"/>
          </a:ln>
        </p:spPr>
      </p:sp>
      <p:sp>
        <p:nvSpPr>
          <p:cNvPr id="67" name="Text 64"/>
          <p:cNvSpPr/>
          <p:nvPr/>
        </p:nvSpPr>
        <p:spPr>
          <a:xfrm>
            <a:off x="12847320" y="1664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Escaped: k ≥ 120 AND ‖xₜ − xsw‖ &gt; 0.5m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2103120" y="1737360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9" name="Text 66"/>
          <p:cNvSpPr/>
          <p:nvPr/>
        </p:nvSpPr>
        <p:spPr>
          <a:xfrm>
            <a:off x="2103120" y="17373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0" name="Text 67"/>
          <p:cNvSpPr/>
          <p:nvPr/>
        </p:nvSpPr>
        <p:spPr>
          <a:xfrm>
            <a:off x="2651760" y="173553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 cost</a:t>
            </a:r>
            <a:endParaRPr lang="en-US" sz="1500" dirty="0"/>
          </a:p>
        </p:txBody>
      </p:sp>
      <p:sp>
        <p:nvSpPr>
          <p:cNvPr id="71" name="Text 68"/>
          <p:cNvSpPr/>
          <p:nvPr/>
        </p:nvSpPr>
        <p:spPr>
          <a:xfrm>
            <a:off x="2651760" y="175747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policies frozen; only runtime logic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11704320" y="1737360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3" name="Text 70"/>
          <p:cNvSpPr/>
          <p:nvPr/>
        </p:nvSpPr>
        <p:spPr>
          <a:xfrm>
            <a:off x="11704320" y="17373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4" name="Text 71"/>
          <p:cNvSpPr/>
          <p:nvPr/>
        </p:nvSpPr>
        <p:spPr>
          <a:xfrm>
            <a:off x="12252960" y="173553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Negligible overhead</a:t>
            </a:r>
            <a:endParaRPr lang="en-US" sz="1500" dirty="0"/>
          </a:p>
        </p:txBody>
      </p:sp>
      <p:sp>
        <p:nvSpPr>
          <p:cNvPr id="75" name="Text 72"/>
          <p:cNvSpPr/>
          <p:nvPr/>
        </p:nvSpPr>
        <p:spPr>
          <a:xfrm>
            <a:off x="12252960" y="175747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distance check per step (&lt;0.1ms)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21305520" y="17373600"/>
            <a:ext cx="411480" cy="4114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7" name="Text 74"/>
          <p:cNvSpPr/>
          <p:nvPr/>
        </p:nvSpPr>
        <p:spPr>
          <a:xfrm>
            <a:off x="21305520" y="17373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78" name="Text 75"/>
          <p:cNvSpPr/>
          <p:nvPr/>
        </p:nvSpPr>
        <p:spPr>
          <a:xfrm>
            <a:off x="21854160" y="173553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Real-robot ready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21854160" y="175747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if-else, no GPU for switching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731520" y="19293840"/>
            <a:ext cx="28803600" cy="685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914400" y="19476720"/>
            <a:ext cx="284378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82" name="Text 79"/>
          <p:cNvSpPr/>
          <p:nvPr/>
        </p:nvSpPr>
        <p:spPr>
          <a:xfrm>
            <a:off x="1051560" y="1954987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83" name="Text 80"/>
          <p:cNvSpPr/>
          <p:nvPr/>
        </p:nvSpPr>
        <p:spPr>
          <a:xfrm>
            <a:off x="1554480" y="19549872"/>
            <a:ext cx="2766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STPS outperforms all single policies</a:t>
            </a:r>
            <a:endParaRPr lang="en-US" sz="2800" dirty="0"/>
          </a:p>
        </p:txBody>
      </p:sp>
      <p:sp>
        <p:nvSpPr>
          <p:cNvPr id="84" name="Text 81"/>
          <p:cNvSpPr/>
          <p:nvPr/>
        </p:nvSpPr>
        <p:spPr>
          <a:xfrm>
            <a:off x="1645920" y="20299680"/>
            <a:ext cx="5693174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7339094" y="20299680"/>
            <a:ext cx="3524346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 ep)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10863440" y="20299680"/>
            <a:ext cx="3524346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U-trap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14387785" y="20299680"/>
            <a:ext cx="3524346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Double-U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17912131" y="20299680"/>
            <a:ext cx="4066553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door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21978684" y="20299680"/>
            <a:ext cx="3524346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25503030" y="20299680"/>
            <a:ext cx="3117690" cy="45720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1645920" y="20756880"/>
            <a:ext cx="569317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CNNTD3 baseline</a:t>
            </a:r>
            <a:endParaRPr lang="en-US" sz="1400" dirty="0"/>
          </a:p>
        </p:txBody>
      </p:sp>
      <p:sp>
        <p:nvSpPr>
          <p:cNvPr id="92" name="Text 89"/>
          <p:cNvSpPr/>
          <p:nvPr/>
        </p:nvSpPr>
        <p:spPr>
          <a:xfrm>
            <a:off x="7339094" y="207568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10863440" y="207568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± 0%</a:t>
            </a:r>
            <a:endParaRPr lang="en-US" sz="1400" dirty="0"/>
          </a:p>
        </p:txBody>
      </p:sp>
      <p:sp>
        <p:nvSpPr>
          <p:cNvPr id="94" name="Text 91"/>
          <p:cNvSpPr/>
          <p:nvPr/>
        </p:nvSpPr>
        <p:spPr>
          <a:xfrm>
            <a:off x="14387785" y="207568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± 4%</a:t>
            </a:r>
            <a:endParaRPr lang="en-US" sz="1400" dirty="0"/>
          </a:p>
        </p:txBody>
      </p:sp>
      <p:sp>
        <p:nvSpPr>
          <p:cNvPr id="95" name="Text 92"/>
          <p:cNvSpPr/>
          <p:nvPr/>
        </p:nvSpPr>
        <p:spPr>
          <a:xfrm>
            <a:off x="17912131" y="20756880"/>
            <a:ext cx="406655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96" name="Text 93"/>
          <p:cNvSpPr/>
          <p:nvPr/>
        </p:nvSpPr>
        <p:spPr>
          <a:xfrm>
            <a:off x="21978684" y="207568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97" name="Text 94"/>
          <p:cNvSpPr/>
          <p:nvPr/>
        </p:nvSpPr>
        <p:spPr>
          <a:xfrm>
            <a:off x="25503030" y="20756880"/>
            <a:ext cx="311769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400" dirty="0"/>
          </a:p>
        </p:txBody>
      </p:sp>
      <p:sp>
        <p:nvSpPr>
          <p:cNvPr id="98" name="Text 95"/>
          <p:cNvSpPr/>
          <p:nvPr/>
        </p:nvSpPr>
        <p:spPr>
          <a:xfrm>
            <a:off x="1645920" y="21214080"/>
            <a:ext cx="5693174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RCPG (GRU)</a:t>
            </a:r>
            <a:endParaRPr lang="en-US" sz="1400" dirty="0"/>
          </a:p>
        </p:txBody>
      </p:sp>
      <p:sp>
        <p:nvSpPr>
          <p:cNvPr id="99" name="Text 96"/>
          <p:cNvSpPr/>
          <p:nvPr/>
        </p:nvSpPr>
        <p:spPr>
          <a:xfrm>
            <a:off x="7339094" y="212140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400" dirty="0"/>
          </a:p>
        </p:txBody>
      </p:sp>
      <p:sp>
        <p:nvSpPr>
          <p:cNvPr id="100" name="Text 97"/>
          <p:cNvSpPr/>
          <p:nvPr/>
        </p:nvSpPr>
        <p:spPr>
          <a:xfrm>
            <a:off x="10863440" y="212140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± 0%</a:t>
            </a:r>
            <a:endParaRPr lang="en-US" sz="1400" dirty="0"/>
          </a:p>
        </p:txBody>
      </p:sp>
      <p:sp>
        <p:nvSpPr>
          <p:cNvPr id="101" name="Text 98"/>
          <p:cNvSpPr/>
          <p:nvPr/>
        </p:nvSpPr>
        <p:spPr>
          <a:xfrm>
            <a:off x="14387785" y="212140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± 0%</a:t>
            </a:r>
            <a:endParaRPr lang="en-US" sz="1400" dirty="0"/>
          </a:p>
        </p:txBody>
      </p:sp>
      <p:sp>
        <p:nvSpPr>
          <p:cNvPr id="102" name="Text 99"/>
          <p:cNvSpPr/>
          <p:nvPr/>
        </p:nvSpPr>
        <p:spPr>
          <a:xfrm>
            <a:off x="17912131" y="21214080"/>
            <a:ext cx="406655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± 0%</a:t>
            </a:r>
            <a:endParaRPr lang="en-US" sz="1400" dirty="0"/>
          </a:p>
        </p:txBody>
      </p:sp>
      <p:sp>
        <p:nvSpPr>
          <p:cNvPr id="103" name="Text 100"/>
          <p:cNvSpPr/>
          <p:nvPr/>
        </p:nvSpPr>
        <p:spPr>
          <a:xfrm>
            <a:off x="21978684" y="212140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04" name="Text 101"/>
          <p:cNvSpPr/>
          <p:nvPr/>
        </p:nvSpPr>
        <p:spPr>
          <a:xfrm>
            <a:off x="25503030" y="21214080"/>
            <a:ext cx="311769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400" dirty="0"/>
          </a:p>
        </p:txBody>
      </p:sp>
      <p:sp>
        <p:nvSpPr>
          <p:cNvPr id="105" name="Text 102"/>
          <p:cNvSpPr/>
          <p:nvPr/>
        </p:nvSpPr>
        <p:spPr>
          <a:xfrm>
            <a:off x="1645920" y="21671280"/>
            <a:ext cx="569317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only</a:t>
            </a:r>
            <a:endParaRPr lang="en-US" sz="1400" dirty="0"/>
          </a:p>
        </p:txBody>
      </p:sp>
      <p:sp>
        <p:nvSpPr>
          <p:cNvPr id="106" name="Text 103"/>
          <p:cNvSpPr/>
          <p:nvPr/>
        </p:nvSpPr>
        <p:spPr>
          <a:xfrm>
            <a:off x="7339094" y="216712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400" dirty="0"/>
          </a:p>
        </p:txBody>
      </p:sp>
      <p:sp>
        <p:nvSpPr>
          <p:cNvPr id="107" name="Text 104"/>
          <p:cNvSpPr/>
          <p:nvPr/>
        </p:nvSpPr>
        <p:spPr>
          <a:xfrm>
            <a:off x="10863440" y="216712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± 0%</a:t>
            </a:r>
            <a:endParaRPr lang="en-US" sz="1400" dirty="0"/>
          </a:p>
        </p:txBody>
      </p:sp>
      <p:sp>
        <p:nvSpPr>
          <p:cNvPr id="108" name="Text 105"/>
          <p:cNvSpPr/>
          <p:nvPr/>
        </p:nvSpPr>
        <p:spPr>
          <a:xfrm>
            <a:off x="14387785" y="216712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09" name="Text 106"/>
          <p:cNvSpPr/>
          <p:nvPr/>
        </p:nvSpPr>
        <p:spPr>
          <a:xfrm>
            <a:off x="17912131" y="21671280"/>
            <a:ext cx="406655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± 0%</a:t>
            </a:r>
            <a:endParaRPr lang="en-US" sz="1400" dirty="0"/>
          </a:p>
        </p:txBody>
      </p:sp>
      <p:sp>
        <p:nvSpPr>
          <p:cNvPr id="110" name="Text 107"/>
          <p:cNvSpPr/>
          <p:nvPr/>
        </p:nvSpPr>
        <p:spPr>
          <a:xfrm>
            <a:off x="21978684" y="216712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11" name="Text 108"/>
          <p:cNvSpPr/>
          <p:nvPr/>
        </p:nvSpPr>
        <p:spPr>
          <a:xfrm>
            <a:off x="25503030" y="21671280"/>
            <a:ext cx="311769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400" dirty="0"/>
          </a:p>
        </p:txBody>
      </p:sp>
      <p:sp>
        <p:nvSpPr>
          <p:cNvPr id="112" name="Text 109"/>
          <p:cNvSpPr/>
          <p:nvPr/>
        </p:nvSpPr>
        <p:spPr>
          <a:xfrm>
            <a:off x="1645920" y="22128480"/>
            <a:ext cx="5693174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(πE)</a:t>
            </a:r>
            <a:endParaRPr lang="en-US" sz="1400" dirty="0"/>
          </a:p>
        </p:txBody>
      </p:sp>
      <p:sp>
        <p:nvSpPr>
          <p:cNvPr id="113" name="Text 110"/>
          <p:cNvSpPr/>
          <p:nvPr/>
        </p:nvSpPr>
        <p:spPr>
          <a:xfrm>
            <a:off x="7339094" y="221284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114" name="Text 111"/>
          <p:cNvSpPr/>
          <p:nvPr/>
        </p:nvSpPr>
        <p:spPr>
          <a:xfrm>
            <a:off x="10863440" y="221284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± 0%</a:t>
            </a:r>
            <a:endParaRPr lang="en-US" sz="1400" dirty="0"/>
          </a:p>
        </p:txBody>
      </p:sp>
      <p:sp>
        <p:nvSpPr>
          <p:cNvPr id="115" name="Text 112"/>
          <p:cNvSpPr/>
          <p:nvPr/>
        </p:nvSpPr>
        <p:spPr>
          <a:xfrm>
            <a:off x="14387785" y="221284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16" name="Text 113"/>
          <p:cNvSpPr/>
          <p:nvPr/>
        </p:nvSpPr>
        <p:spPr>
          <a:xfrm>
            <a:off x="17912131" y="22128480"/>
            <a:ext cx="4066553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± 0%</a:t>
            </a:r>
            <a:endParaRPr lang="en-US" sz="1400" dirty="0"/>
          </a:p>
        </p:txBody>
      </p:sp>
      <p:sp>
        <p:nvSpPr>
          <p:cNvPr id="117" name="Text 114"/>
          <p:cNvSpPr/>
          <p:nvPr/>
        </p:nvSpPr>
        <p:spPr>
          <a:xfrm>
            <a:off x="21978684" y="22128480"/>
            <a:ext cx="3524346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18" name="Text 115"/>
          <p:cNvSpPr/>
          <p:nvPr/>
        </p:nvSpPr>
        <p:spPr>
          <a:xfrm>
            <a:off x="25503030" y="22128480"/>
            <a:ext cx="311769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400" dirty="0"/>
          </a:p>
        </p:txBody>
      </p:sp>
      <p:sp>
        <p:nvSpPr>
          <p:cNvPr id="119" name="Text 116"/>
          <p:cNvSpPr/>
          <p:nvPr/>
        </p:nvSpPr>
        <p:spPr>
          <a:xfrm>
            <a:off x="1645920" y="22585680"/>
            <a:ext cx="569317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Annealed (πP)</a:t>
            </a:r>
            <a:endParaRPr lang="en-US" sz="1400" dirty="0"/>
          </a:p>
        </p:txBody>
      </p:sp>
      <p:sp>
        <p:nvSpPr>
          <p:cNvPr id="120" name="Text 117"/>
          <p:cNvSpPr/>
          <p:nvPr/>
        </p:nvSpPr>
        <p:spPr>
          <a:xfrm>
            <a:off x="7339094" y="225856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400" dirty="0"/>
          </a:p>
        </p:txBody>
      </p:sp>
      <p:sp>
        <p:nvSpPr>
          <p:cNvPr id="121" name="Text 118"/>
          <p:cNvSpPr/>
          <p:nvPr/>
        </p:nvSpPr>
        <p:spPr>
          <a:xfrm>
            <a:off x="10863440" y="225856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± 0%</a:t>
            </a:r>
            <a:endParaRPr lang="en-US" sz="1400" dirty="0"/>
          </a:p>
        </p:txBody>
      </p:sp>
      <p:sp>
        <p:nvSpPr>
          <p:cNvPr id="122" name="Text 119"/>
          <p:cNvSpPr/>
          <p:nvPr/>
        </p:nvSpPr>
        <p:spPr>
          <a:xfrm>
            <a:off x="14387785" y="225856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23" name="Text 120"/>
          <p:cNvSpPr/>
          <p:nvPr/>
        </p:nvSpPr>
        <p:spPr>
          <a:xfrm>
            <a:off x="17912131" y="22585680"/>
            <a:ext cx="406655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24" name="Text 121"/>
          <p:cNvSpPr/>
          <p:nvPr/>
        </p:nvSpPr>
        <p:spPr>
          <a:xfrm>
            <a:off x="21978684" y="22585680"/>
            <a:ext cx="352434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25" name="Text 122"/>
          <p:cNvSpPr/>
          <p:nvPr/>
        </p:nvSpPr>
        <p:spPr>
          <a:xfrm>
            <a:off x="25503030" y="22585680"/>
            <a:ext cx="311769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126" name="Text 123"/>
          <p:cNvSpPr/>
          <p:nvPr/>
        </p:nvSpPr>
        <p:spPr>
          <a:xfrm>
            <a:off x="1645920" y="23042880"/>
            <a:ext cx="5693174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STPS v2 (ours)</a:t>
            </a:r>
            <a:endParaRPr lang="en-US" sz="1400" dirty="0"/>
          </a:p>
        </p:txBody>
      </p:sp>
      <p:sp>
        <p:nvSpPr>
          <p:cNvPr id="127" name="Text 124"/>
          <p:cNvSpPr/>
          <p:nvPr/>
        </p:nvSpPr>
        <p:spPr>
          <a:xfrm>
            <a:off x="7339094" y="23042880"/>
            <a:ext cx="3524346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400" dirty="0"/>
          </a:p>
        </p:txBody>
      </p:sp>
      <p:sp>
        <p:nvSpPr>
          <p:cNvPr id="128" name="Text 125"/>
          <p:cNvSpPr/>
          <p:nvPr/>
        </p:nvSpPr>
        <p:spPr>
          <a:xfrm>
            <a:off x="10863440" y="23042880"/>
            <a:ext cx="3524346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± 7%</a:t>
            </a:r>
            <a:endParaRPr lang="en-US" sz="1400" dirty="0"/>
          </a:p>
        </p:txBody>
      </p:sp>
      <p:sp>
        <p:nvSpPr>
          <p:cNvPr id="129" name="Text 126"/>
          <p:cNvSpPr/>
          <p:nvPr/>
        </p:nvSpPr>
        <p:spPr>
          <a:xfrm>
            <a:off x="14387785" y="23042880"/>
            <a:ext cx="3524346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30" name="Text 127"/>
          <p:cNvSpPr/>
          <p:nvPr/>
        </p:nvSpPr>
        <p:spPr>
          <a:xfrm>
            <a:off x="17912131" y="23042880"/>
            <a:ext cx="4066553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31" name="Text 128"/>
          <p:cNvSpPr/>
          <p:nvPr/>
        </p:nvSpPr>
        <p:spPr>
          <a:xfrm>
            <a:off x="21978684" y="23042880"/>
            <a:ext cx="3524346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± 0%</a:t>
            </a:r>
            <a:endParaRPr lang="en-US" sz="1400" dirty="0"/>
          </a:p>
        </p:txBody>
      </p:sp>
      <p:sp>
        <p:nvSpPr>
          <p:cNvPr id="132" name="Text 129"/>
          <p:cNvSpPr/>
          <p:nvPr/>
        </p:nvSpPr>
        <p:spPr>
          <a:xfrm>
            <a:off x="25503030" y="23042880"/>
            <a:ext cx="3117690" cy="45720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</a:ln>
        </p:spPr>
        <p:txBody>
          <a:bodyPr wrap="square" lIns="0" tIns="6350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400" dirty="0"/>
          </a:p>
        </p:txBody>
      </p:sp>
      <p:sp>
        <p:nvSpPr>
          <p:cNvPr id="133" name="Text 130"/>
          <p:cNvSpPr/>
          <p:nvPr/>
        </p:nvSpPr>
        <p:spPr>
          <a:xfrm>
            <a:off x="1645920" y="23591520"/>
            <a:ext cx="2697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× 12 perturbed starts. STPS is the only method without any 0% catastrophic failure.</a:t>
            </a:r>
            <a:endParaRPr lang="en-US" sz="1300" dirty="0"/>
          </a:p>
        </p:txBody>
      </p:sp>
      <p:pic>
        <p:nvPicPr>
          <p:cNvPr id="134" name="Image 1" descr="/home/claude/poster_img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4048720"/>
            <a:ext cx="25146000" cy="9555480"/>
          </a:xfrm>
          <a:prstGeom prst="rect">
            <a:avLst/>
          </a:prstGeom>
        </p:spPr>
      </p:pic>
      <p:sp>
        <p:nvSpPr>
          <p:cNvPr id="135" name="Shape 131"/>
          <p:cNvSpPr/>
          <p:nvPr/>
        </p:nvSpPr>
        <p:spPr>
          <a:xfrm>
            <a:off x="731520" y="26517600"/>
            <a:ext cx="28803600" cy="530352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6" name="Shape 132"/>
          <p:cNvSpPr/>
          <p:nvPr/>
        </p:nvSpPr>
        <p:spPr>
          <a:xfrm>
            <a:off x="914400" y="26700480"/>
            <a:ext cx="284378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137" name="Text 133"/>
          <p:cNvSpPr/>
          <p:nvPr/>
        </p:nvSpPr>
        <p:spPr>
          <a:xfrm>
            <a:off x="1051560" y="2677363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38" name="Text 134"/>
          <p:cNvSpPr/>
          <p:nvPr/>
        </p:nvSpPr>
        <p:spPr>
          <a:xfrm>
            <a:off x="1554480" y="26773632"/>
            <a:ext cx="2766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and failure case analysis</a:t>
            </a:r>
            <a:endParaRPr lang="en-US" sz="2800" dirty="0"/>
          </a:p>
        </p:txBody>
      </p:sp>
      <p:pic>
        <p:nvPicPr>
          <p:cNvPr id="139" name="Image 2" descr="/home/claude/poster_imgs/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7523440"/>
            <a:ext cx="4343400" cy="4343400"/>
          </a:xfrm>
          <a:prstGeom prst="rect">
            <a:avLst/>
          </a:prstGeom>
        </p:spPr>
      </p:pic>
      <p:sp>
        <p:nvSpPr>
          <p:cNvPr id="140" name="Text 135"/>
          <p:cNvSpPr/>
          <p:nvPr/>
        </p:nvSpPr>
        <p:spPr>
          <a:xfrm>
            <a:off x="1188720" y="31958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Baseline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U-trap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0%</a:t>
            </a:r>
            <a:endParaRPr lang="en-US" sz="1100" dirty="0"/>
          </a:p>
        </p:txBody>
      </p:sp>
      <p:pic>
        <p:nvPicPr>
          <p:cNvPr id="141" name="Image 3" descr="/home/claude/poster_imgs/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7523440"/>
            <a:ext cx="4343400" cy="4343400"/>
          </a:xfrm>
          <a:prstGeom prst="rect">
            <a:avLst/>
          </a:prstGeom>
        </p:spPr>
      </p:pic>
      <p:sp>
        <p:nvSpPr>
          <p:cNvPr id="142" name="Text 136"/>
          <p:cNvSpPr/>
          <p:nvPr/>
        </p:nvSpPr>
        <p:spPr>
          <a:xfrm>
            <a:off x="5824728" y="31958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πE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narrow door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0%</a:t>
            </a:r>
            <a:endParaRPr lang="en-US" sz="1100" dirty="0"/>
          </a:p>
        </p:txBody>
      </p:sp>
      <p:pic>
        <p:nvPicPr>
          <p:cNvPr id="143" name="Image 4" descr="/home/claude/poster_imgs/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76" y="27523440"/>
            <a:ext cx="4343400" cy="4343400"/>
          </a:xfrm>
          <a:prstGeom prst="rect">
            <a:avLst/>
          </a:prstGeom>
        </p:spPr>
      </p:pic>
      <p:sp>
        <p:nvSpPr>
          <p:cNvPr id="144" name="Text 137"/>
          <p:cNvSpPr/>
          <p:nvPr/>
        </p:nvSpPr>
        <p:spPr>
          <a:xfrm>
            <a:off x="10460736" y="31958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Annealed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U-trap reverts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0%</a:t>
            </a:r>
            <a:endParaRPr lang="en-US" sz="1100" dirty="0"/>
          </a:p>
        </p:txBody>
      </p:sp>
      <p:pic>
        <p:nvPicPr>
          <p:cNvPr id="145" name="Image 5" descr="/home/claude/poster_imgs/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88184" y="27523440"/>
            <a:ext cx="4343400" cy="4343400"/>
          </a:xfrm>
          <a:prstGeom prst="rect">
            <a:avLst/>
          </a:prstGeom>
        </p:spPr>
      </p:pic>
      <p:sp>
        <p:nvSpPr>
          <p:cNvPr id="146" name="Text 138"/>
          <p:cNvSpPr/>
          <p:nvPr/>
        </p:nvSpPr>
        <p:spPr>
          <a:xfrm>
            <a:off x="15096744" y="31958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STPS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U-trap escape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75%</a:t>
            </a:r>
            <a:endParaRPr lang="en-US" sz="1100" dirty="0"/>
          </a:p>
        </p:txBody>
      </p:sp>
      <p:pic>
        <p:nvPicPr>
          <p:cNvPr id="147" name="Image 6" descr="/home/claude/poster_imgs/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4192" y="27523440"/>
            <a:ext cx="4343400" cy="4343400"/>
          </a:xfrm>
          <a:prstGeom prst="rect">
            <a:avLst/>
          </a:prstGeom>
        </p:spPr>
      </p:pic>
      <p:sp>
        <p:nvSpPr>
          <p:cNvPr id="148" name="Text 139"/>
          <p:cNvSpPr/>
          <p:nvPr/>
        </p:nvSpPr>
        <p:spPr>
          <a:xfrm>
            <a:off x="19732752" y="31958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STPS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door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100%</a:t>
            </a:r>
            <a:endParaRPr lang="en-US" sz="1100" dirty="0"/>
          </a:p>
        </p:txBody>
      </p:sp>
      <p:pic>
        <p:nvPicPr>
          <p:cNvPr id="149" name="Image 7" descr="/home/claude/poster_imgs/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0200" y="27523440"/>
            <a:ext cx="4343400" cy="4343400"/>
          </a:xfrm>
          <a:prstGeom prst="rect">
            <a:avLst/>
          </a:prstGeom>
        </p:spPr>
      </p:pic>
      <p:sp>
        <p:nvSpPr>
          <p:cNvPr id="150" name="Text 140"/>
          <p:cNvSpPr/>
          <p:nvPr/>
        </p:nvSpPr>
        <p:spPr>
          <a:xfrm>
            <a:off x="24368760" y="31958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STPS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env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= 88%</a:t>
            </a:r>
            <a:endParaRPr lang="en-US" sz="1100" dirty="0"/>
          </a:p>
        </p:txBody>
      </p:sp>
      <p:sp>
        <p:nvSpPr>
          <p:cNvPr id="151" name="Shape 141"/>
          <p:cNvSpPr/>
          <p:nvPr/>
        </p:nvSpPr>
        <p:spPr>
          <a:xfrm>
            <a:off x="731520" y="32186880"/>
            <a:ext cx="141732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2" name="Shape 142"/>
          <p:cNvSpPr/>
          <p:nvPr/>
        </p:nvSpPr>
        <p:spPr>
          <a:xfrm>
            <a:off x="914400" y="32369760"/>
            <a:ext cx="138074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153" name="Text 143"/>
          <p:cNvSpPr/>
          <p:nvPr/>
        </p:nvSpPr>
        <p:spPr>
          <a:xfrm>
            <a:off x="1051560" y="3244291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54" name="Text 144"/>
          <p:cNvSpPr/>
          <p:nvPr/>
        </p:nvSpPr>
        <p:spPr>
          <a:xfrm>
            <a:off x="1554480" y="32442912"/>
            <a:ext cx="1303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sensitivity</a:t>
            </a:r>
            <a:endParaRPr lang="en-US" sz="2800" dirty="0"/>
          </a:p>
        </p:txBody>
      </p:sp>
      <p:sp>
        <p:nvSpPr>
          <p:cNvPr id="155" name="Text 145"/>
          <p:cNvSpPr/>
          <p:nvPr/>
        </p:nvSpPr>
        <p:spPr>
          <a:xfrm>
            <a:off x="1188720" y="33192720"/>
            <a:ext cx="1325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U-trap SR (%) / Narrow-door SR (%)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K=120, δ_prog=0.5m fixed</a:t>
            </a:r>
            <a:endParaRPr lang="en-US" sz="1300" dirty="0"/>
          </a:p>
        </p:txBody>
      </p:sp>
      <p:sp>
        <p:nvSpPr>
          <p:cNvPr id="156" name="Text 146"/>
          <p:cNvSpPr/>
          <p:nvPr/>
        </p:nvSpPr>
        <p:spPr>
          <a:xfrm>
            <a:off x="1645920" y="3392424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57" name="Text 147"/>
          <p:cNvSpPr/>
          <p:nvPr/>
        </p:nvSpPr>
        <p:spPr>
          <a:xfrm>
            <a:off x="4617720" y="3392424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δ=0.10</a:t>
            </a:r>
            <a:endParaRPr lang="en-US" sz="1300" dirty="0"/>
          </a:p>
        </p:txBody>
      </p:sp>
      <p:sp>
        <p:nvSpPr>
          <p:cNvPr id="158" name="Text 148"/>
          <p:cNvSpPr/>
          <p:nvPr/>
        </p:nvSpPr>
        <p:spPr>
          <a:xfrm>
            <a:off x="7589520" y="3392424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δ=0.15</a:t>
            </a:r>
            <a:endParaRPr lang="en-US" sz="1300" dirty="0"/>
          </a:p>
        </p:txBody>
      </p:sp>
      <p:sp>
        <p:nvSpPr>
          <p:cNvPr id="159" name="Text 149"/>
          <p:cNvSpPr/>
          <p:nvPr/>
        </p:nvSpPr>
        <p:spPr>
          <a:xfrm>
            <a:off x="10561320" y="3392424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δ=0.20</a:t>
            </a:r>
            <a:endParaRPr lang="en-US" sz="1300" dirty="0"/>
          </a:p>
        </p:txBody>
      </p:sp>
      <p:sp>
        <p:nvSpPr>
          <p:cNvPr id="160" name="Text 150"/>
          <p:cNvSpPr/>
          <p:nvPr/>
        </p:nvSpPr>
        <p:spPr>
          <a:xfrm>
            <a:off x="1645920" y="3433572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W=15</a:t>
            </a:r>
            <a:endParaRPr lang="en-US" sz="1300" dirty="0"/>
          </a:p>
        </p:txBody>
      </p:sp>
      <p:sp>
        <p:nvSpPr>
          <p:cNvPr id="161" name="Text 151"/>
          <p:cNvSpPr/>
          <p:nvPr/>
        </p:nvSpPr>
        <p:spPr>
          <a:xfrm>
            <a:off x="4617720" y="3433572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42/100</a:t>
            </a:r>
            <a:endParaRPr lang="en-US" sz="1300" dirty="0"/>
          </a:p>
        </p:txBody>
      </p:sp>
      <p:sp>
        <p:nvSpPr>
          <p:cNvPr id="162" name="Text 152"/>
          <p:cNvSpPr/>
          <p:nvPr/>
        </p:nvSpPr>
        <p:spPr>
          <a:xfrm>
            <a:off x="7589520" y="3433572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42/100</a:t>
            </a:r>
            <a:endParaRPr lang="en-US" sz="1300" dirty="0"/>
          </a:p>
        </p:txBody>
      </p:sp>
      <p:sp>
        <p:nvSpPr>
          <p:cNvPr id="163" name="Text 153"/>
          <p:cNvSpPr/>
          <p:nvPr/>
        </p:nvSpPr>
        <p:spPr>
          <a:xfrm>
            <a:off x="10561320" y="3433572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67/100</a:t>
            </a:r>
            <a:endParaRPr lang="en-US" sz="1300" dirty="0"/>
          </a:p>
        </p:txBody>
      </p:sp>
      <p:sp>
        <p:nvSpPr>
          <p:cNvPr id="164" name="Text 154"/>
          <p:cNvSpPr/>
          <p:nvPr/>
        </p:nvSpPr>
        <p:spPr>
          <a:xfrm>
            <a:off x="1645920" y="3474720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W=20</a:t>
            </a:r>
            <a:endParaRPr lang="en-US" sz="1300" dirty="0"/>
          </a:p>
        </p:txBody>
      </p:sp>
      <p:sp>
        <p:nvSpPr>
          <p:cNvPr id="165" name="Text 155"/>
          <p:cNvSpPr/>
          <p:nvPr/>
        </p:nvSpPr>
        <p:spPr>
          <a:xfrm>
            <a:off x="4617720" y="34747200"/>
            <a:ext cx="2971800" cy="41148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67/100</a:t>
            </a:r>
            <a:endParaRPr lang="en-US" sz="1300" dirty="0"/>
          </a:p>
        </p:txBody>
      </p:sp>
      <p:sp>
        <p:nvSpPr>
          <p:cNvPr id="166" name="Text 156"/>
          <p:cNvSpPr/>
          <p:nvPr/>
        </p:nvSpPr>
        <p:spPr>
          <a:xfrm>
            <a:off x="7589520" y="34747200"/>
            <a:ext cx="2971800" cy="41148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67/100</a:t>
            </a:r>
            <a:endParaRPr lang="en-US" sz="1300" dirty="0"/>
          </a:p>
        </p:txBody>
      </p:sp>
      <p:sp>
        <p:nvSpPr>
          <p:cNvPr id="167" name="Text 157"/>
          <p:cNvSpPr/>
          <p:nvPr/>
        </p:nvSpPr>
        <p:spPr>
          <a:xfrm>
            <a:off x="10561320" y="34747200"/>
            <a:ext cx="2971800" cy="41148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67/100</a:t>
            </a:r>
            <a:endParaRPr lang="en-US" sz="1300" dirty="0"/>
          </a:p>
        </p:txBody>
      </p:sp>
      <p:sp>
        <p:nvSpPr>
          <p:cNvPr id="168" name="Text 158"/>
          <p:cNvSpPr/>
          <p:nvPr/>
        </p:nvSpPr>
        <p:spPr>
          <a:xfrm>
            <a:off x="1645920" y="35158680"/>
            <a:ext cx="2971800" cy="41148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W=30</a:t>
            </a:r>
            <a:endParaRPr lang="en-US" sz="1300" dirty="0"/>
          </a:p>
        </p:txBody>
      </p:sp>
      <p:sp>
        <p:nvSpPr>
          <p:cNvPr id="169" name="Text 159"/>
          <p:cNvSpPr/>
          <p:nvPr/>
        </p:nvSpPr>
        <p:spPr>
          <a:xfrm>
            <a:off x="4617720" y="3515868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0/100</a:t>
            </a:r>
            <a:endParaRPr lang="en-US" sz="1300" dirty="0"/>
          </a:p>
        </p:txBody>
      </p:sp>
      <p:sp>
        <p:nvSpPr>
          <p:cNvPr id="170" name="Text 160"/>
          <p:cNvSpPr/>
          <p:nvPr/>
        </p:nvSpPr>
        <p:spPr>
          <a:xfrm>
            <a:off x="7589520" y="3515868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17/100</a:t>
            </a:r>
            <a:endParaRPr lang="en-US" sz="1300" dirty="0"/>
          </a:p>
        </p:txBody>
      </p:sp>
      <p:sp>
        <p:nvSpPr>
          <p:cNvPr id="171" name="Text 161"/>
          <p:cNvSpPr/>
          <p:nvPr/>
        </p:nvSpPr>
        <p:spPr>
          <a:xfrm>
            <a:off x="10561320" y="35158680"/>
            <a:ext cx="2971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25/100</a:t>
            </a:r>
            <a:endParaRPr lang="en-US" sz="1300" dirty="0"/>
          </a:p>
        </p:txBody>
      </p:sp>
      <p:sp>
        <p:nvSpPr>
          <p:cNvPr id="172" name="Text 162"/>
          <p:cNvSpPr/>
          <p:nvPr/>
        </p:nvSpPr>
        <p:spPr>
          <a:xfrm>
            <a:off x="1188720" y="35661600"/>
            <a:ext cx="1325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door = 100% across entire grid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switching never harms precision</a:t>
            </a:r>
            <a:endParaRPr lang="en-US" sz="1300" dirty="0"/>
          </a:p>
        </p:txBody>
      </p:sp>
      <p:sp>
        <p:nvSpPr>
          <p:cNvPr id="173" name="Shape 163"/>
          <p:cNvSpPr/>
          <p:nvPr/>
        </p:nvSpPr>
        <p:spPr>
          <a:xfrm>
            <a:off x="15361920" y="32186880"/>
            <a:ext cx="141732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4" name="Shape 164"/>
          <p:cNvSpPr/>
          <p:nvPr/>
        </p:nvSpPr>
        <p:spPr>
          <a:xfrm>
            <a:off x="15544800" y="32369760"/>
            <a:ext cx="13807440" cy="64008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/>
        </p:spPr>
      </p:sp>
      <p:sp>
        <p:nvSpPr>
          <p:cNvPr id="175" name="Text 165"/>
          <p:cNvSpPr/>
          <p:nvPr/>
        </p:nvSpPr>
        <p:spPr>
          <a:xfrm>
            <a:off x="15681960" y="3244291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176" name="Text 166"/>
          <p:cNvSpPr/>
          <p:nvPr/>
        </p:nvSpPr>
        <p:spPr>
          <a:xfrm>
            <a:off x="16184880" y="32442912"/>
            <a:ext cx="1303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taxonomy and what didn't work</a:t>
            </a:r>
            <a:endParaRPr lang="en-US" sz="2800" dirty="0"/>
          </a:p>
        </p:txBody>
      </p:sp>
      <p:sp>
        <p:nvSpPr>
          <p:cNvPr id="177" name="Shape 167"/>
          <p:cNvSpPr/>
          <p:nvPr/>
        </p:nvSpPr>
        <p:spPr>
          <a:xfrm>
            <a:off x="15727680" y="33192720"/>
            <a:ext cx="134416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/>
        </p:spPr>
      </p:sp>
      <p:sp>
        <p:nvSpPr>
          <p:cNvPr id="178" name="Text 168"/>
          <p:cNvSpPr/>
          <p:nvPr/>
        </p:nvSpPr>
        <p:spPr>
          <a:xfrm>
            <a:off x="15910560" y="33211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tracking</a:t>
            </a:r>
            <a:endParaRPr lang="en-US" sz="1400" dirty="0"/>
          </a:p>
        </p:txBody>
      </p:sp>
      <p:sp>
        <p:nvSpPr>
          <p:cNvPr id="179" name="Text 169"/>
          <p:cNvSpPr/>
          <p:nvPr/>
        </p:nvSpPr>
        <p:spPr>
          <a:xfrm>
            <a:off x="15910560" y="33512760"/>
            <a:ext cx="1307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retreat — Baseline in U-trap</a:t>
            </a:r>
            <a:endParaRPr lang="en-US" sz="1200" dirty="0"/>
          </a:p>
        </p:txBody>
      </p:sp>
      <p:sp>
        <p:nvSpPr>
          <p:cNvPr id="180" name="Shape 170"/>
          <p:cNvSpPr/>
          <p:nvPr/>
        </p:nvSpPr>
        <p:spPr>
          <a:xfrm>
            <a:off x="15727680" y="33969960"/>
            <a:ext cx="134416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/>
        </p:spPr>
      </p:sp>
      <p:sp>
        <p:nvSpPr>
          <p:cNvPr id="181" name="Text 171"/>
          <p:cNvSpPr/>
          <p:nvPr/>
        </p:nvSpPr>
        <p:spPr>
          <a:xfrm>
            <a:off x="15910560" y="33988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conflict</a:t>
            </a:r>
            <a:endParaRPr lang="en-US" sz="1400" dirty="0"/>
          </a:p>
        </p:txBody>
      </p:sp>
      <p:sp>
        <p:nvSpPr>
          <p:cNvPr id="182" name="Text 172"/>
          <p:cNvSpPr/>
          <p:nvPr/>
        </p:nvSpPr>
        <p:spPr>
          <a:xfrm>
            <a:off x="15910560" y="34290000"/>
            <a:ext cx="1307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vs precision — πE in narrow door</a:t>
            </a:r>
            <a:endParaRPr lang="en-US" sz="1200" dirty="0"/>
          </a:p>
        </p:txBody>
      </p:sp>
      <p:sp>
        <p:nvSpPr>
          <p:cNvPr id="183" name="Shape 173"/>
          <p:cNvSpPr/>
          <p:nvPr/>
        </p:nvSpPr>
        <p:spPr>
          <a:xfrm>
            <a:off x="15727680" y="34747200"/>
            <a:ext cx="1344168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/>
        </p:spPr>
      </p:sp>
      <p:sp>
        <p:nvSpPr>
          <p:cNvPr id="184" name="Text 174"/>
          <p:cNvSpPr/>
          <p:nvPr/>
        </p:nvSpPr>
        <p:spPr>
          <a:xfrm>
            <a:off x="15910560" y="3476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space limit</a:t>
            </a:r>
            <a:endParaRPr lang="en-US" sz="1400" dirty="0"/>
          </a:p>
        </p:txBody>
      </p:sp>
      <p:sp>
        <p:nvSpPr>
          <p:cNvPr id="185" name="Text 175"/>
          <p:cNvSpPr/>
          <p:nvPr/>
        </p:nvSpPr>
        <p:spPr>
          <a:xfrm>
            <a:off x="15910560" y="35067240"/>
            <a:ext cx="1307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network can't encode both — Annealing</a:t>
            </a:r>
            <a:endParaRPr lang="en-US" sz="1200" dirty="0"/>
          </a:p>
        </p:txBody>
      </p:sp>
      <p:sp>
        <p:nvSpPr>
          <p:cNvPr id="186" name="Shape 176"/>
          <p:cNvSpPr/>
          <p:nvPr/>
        </p:nvSpPr>
        <p:spPr>
          <a:xfrm>
            <a:off x="15727680" y="35524440"/>
            <a:ext cx="1344168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/>
        </p:spPr>
      </p:sp>
      <p:sp>
        <p:nvSpPr>
          <p:cNvPr id="187" name="Text 177"/>
          <p:cNvSpPr/>
          <p:nvPr/>
        </p:nvSpPr>
        <p:spPr>
          <a:xfrm>
            <a:off x="15910560" y="35542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latency</a:t>
            </a:r>
            <a:endParaRPr lang="en-US" sz="1400" dirty="0"/>
          </a:p>
        </p:txBody>
      </p:sp>
      <p:sp>
        <p:nvSpPr>
          <p:cNvPr id="188" name="Text 178"/>
          <p:cNvSpPr/>
          <p:nvPr/>
        </p:nvSpPr>
        <p:spPr>
          <a:xfrm>
            <a:off x="15910560" y="35844480"/>
            <a:ext cx="1307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steps to confirm stall — STPS 75%&lt;83%</a:t>
            </a:r>
            <a:endParaRPr lang="en-US" sz="1200" dirty="0"/>
          </a:p>
        </p:txBody>
      </p:sp>
      <p:sp>
        <p:nvSpPr>
          <p:cNvPr id="189" name="Text 179"/>
          <p:cNvSpPr/>
          <p:nvPr/>
        </p:nvSpPr>
        <p:spPr>
          <a:xfrm>
            <a:off x="15819120" y="36393120"/>
            <a:ext cx="1325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didn't work:</a:t>
            </a:r>
            <a:endParaRPr lang="en-US" sz="1400" dirty="0"/>
          </a:p>
        </p:txBody>
      </p:sp>
      <p:sp>
        <p:nvSpPr>
          <p:cNvPr id="190" name="Text 180"/>
          <p:cNvSpPr/>
          <p:nvPr/>
        </p:nvSpPr>
        <p:spPr>
          <a:xfrm>
            <a:off x="15819120" y="36667440"/>
            <a:ext cx="1325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STPS v3 (goal-distance + progressive escape): no gain over v2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U-trap specialist: 83%, same as original improved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Bottleneck = geometric difficulty, not detection/model</a:t>
            </a:r>
            <a:endParaRPr lang="en-US" sz="1200" dirty="0"/>
          </a:p>
        </p:txBody>
      </p:sp>
      <p:sp>
        <p:nvSpPr>
          <p:cNvPr id="191" name="Shape 181"/>
          <p:cNvSpPr/>
          <p:nvPr/>
        </p:nvSpPr>
        <p:spPr>
          <a:xfrm>
            <a:off x="731520" y="37307520"/>
            <a:ext cx="28803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2" name="Shape 182"/>
          <p:cNvSpPr/>
          <p:nvPr/>
        </p:nvSpPr>
        <p:spPr>
          <a:xfrm>
            <a:off x="1005840" y="37490400"/>
            <a:ext cx="13944600" cy="502920"/>
          </a:xfrm>
          <a:prstGeom prst="roundRect">
            <a:avLst>
              <a:gd name="adj" fmla="val 18182"/>
            </a:avLst>
          </a:prstGeom>
          <a:solidFill>
            <a:srgbClr val="EBF4FF"/>
          </a:solidFill>
          <a:ln/>
        </p:spPr>
      </p:sp>
      <p:sp>
        <p:nvSpPr>
          <p:cNvPr id="193" name="Text 183"/>
          <p:cNvSpPr/>
          <p:nvPr/>
        </p:nvSpPr>
        <p:spPr>
          <a:xfrm>
            <a:off x="1188720" y="37508688"/>
            <a:ext cx="1357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Conclusion</a:t>
            </a:r>
            <a:endParaRPr lang="en-US" sz="2400" dirty="0"/>
          </a:p>
        </p:txBody>
      </p:sp>
      <p:sp>
        <p:nvSpPr>
          <p:cNvPr id="194" name="Text 184"/>
          <p:cNvSpPr/>
          <p:nvPr/>
        </p:nvSpPr>
        <p:spPr>
          <a:xfrm>
            <a:off x="1188720" y="38130480"/>
            <a:ext cx="1357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revealed a hard exploration-precision conflict in DRL navigation and proposed STPS, a training-free switching architecture.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STPS achieves 94% scenario average — the only method without catastrophic failure — while matching baseline on standard environments (88%).</a:t>
            </a:r>
            <a:endParaRPr lang="en-US" sz="1500" dirty="0"/>
          </a:p>
        </p:txBody>
      </p:sp>
      <p:sp>
        <p:nvSpPr>
          <p:cNvPr id="195" name="Shape 185"/>
          <p:cNvSpPr/>
          <p:nvPr/>
        </p:nvSpPr>
        <p:spPr>
          <a:xfrm>
            <a:off x="15316200" y="37490400"/>
            <a:ext cx="13944600" cy="502920"/>
          </a:xfrm>
          <a:prstGeom prst="roundRect">
            <a:avLst>
              <a:gd name="adj" fmla="val 18182"/>
            </a:avLst>
          </a:prstGeom>
          <a:solidFill>
            <a:srgbClr val="EBF4FF"/>
          </a:solidFill>
          <a:ln/>
        </p:spPr>
      </p:sp>
      <p:sp>
        <p:nvSpPr>
          <p:cNvPr id="196" name="Text 186"/>
          <p:cNvSpPr/>
          <p:nvPr/>
        </p:nvSpPr>
        <p:spPr>
          <a:xfrm>
            <a:off x="15499080" y="37508688"/>
            <a:ext cx="1357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Future work</a:t>
            </a:r>
            <a:endParaRPr lang="en-US" sz="2400" dirty="0"/>
          </a:p>
        </p:txBody>
      </p:sp>
      <p:sp>
        <p:nvSpPr>
          <p:cNvPr id="197" name="Text 187"/>
          <p:cNvSpPr/>
          <p:nvPr/>
        </p:nvSpPr>
        <p:spPr>
          <a:xfrm>
            <a:off x="15499080" y="38130480"/>
            <a:ext cx="1357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Real-robot deployment on LIMO platform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Learned switch trigger (RL scene classifier)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Extend policy library beyond two modes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Isaac Lab parallel training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PINN-based delay compensation</a:t>
            </a:r>
            <a:endParaRPr lang="en-US" sz="1500" dirty="0"/>
          </a:p>
        </p:txBody>
      </p:sp>
      <p:sp>
        <p:nvSpPr>
          <p:cNvPr id="198" name="Shape 188"/>
          <p:cNvSpPr/>
          <p:nvPr/>
        </p:nvSpPr>
        <p:spPr>
          <a:xfrm>
            <a:off x="0" y="42062400"/>
            <a:ext cx="3026664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9" name="Text 189"/>
          <p:cNvSpPr/>
          <p:nvPr/>
        </p:nvSpPr>
        <p:spPr>
          <a:xfrm>
            <a:off x="1828800" y="42108120"/>
            <a:ext cx="2651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data available  |  Contact: [email]  |  Summer Research Program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2026-07-23T07:59:39Z</dcterms:created>
  <dcterms:modified xsi:type="dcterms:W3CDTF">2026-07-23T07:59:39Z</dcterms:modified>
</cp:coreProperties>
</file>