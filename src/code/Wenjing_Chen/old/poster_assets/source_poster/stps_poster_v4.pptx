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66640" cy="42793920"/>
  <p:notesSz cx="42793920" cy="302666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66640" cy="38404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30266640" cy="10972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365760"/>
            <a:ext cx="2743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Stall-Triggered Policy Switching for DRL</a:t>
            </a:r>
            <a:endParaRPr lang="en-US" sz="5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in Trap Scenarios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0" y="2286000"/>
            <a:ext cx="2468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Name]¹, [Advisor Name]¹*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0" y="2743200"/>
            <a:ext cx="2468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Department of [XXX], [University Name]    * Corresponding author: [email]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3200400"/>
            <a:ext cx="26517600" cy="502920"/>
          </a:xfrm>
          <a:prstGeom prst="roundRect">
            <a:avLst>
              <a:gd name="adj" fmla="val 10909"/>
            </a:avLst>
          </a:prstGeom>
          <a:solidFill>
            <a:srgbClr val="0D2847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32186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E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94% scenario avg SR (+27 pts vs baseline)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0" y="32186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E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88% standard environment SR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179040" y="32186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E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catastrophic failures (no 0% cells)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762720" y="321868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EA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additional training cost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43560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70248"/>
            <a:ext cx="1399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14081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navigation policies achieve &gt;85% success in open environments but catastrophically fail (0% SR) in trap scenarios requiring temporary retreat.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rewards fix traps (0→83%) but destroy precision (narrow door 100→0%). Reward annealing cannot resolve this conflict.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STPS, a training-free runtime architecture that detects motion stagnation and dynamically switches between precision and exploration policies.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average scenario SR, the only method without catastrophic failure, matching baseline on standard environments.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361920" y="4251960"/>
            <a:ext cx="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0" y="4270248"/>
            <a:ext cx="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5361920" y="4251960"/>
            <a:ext cx="143560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0" y="4270248"/>
            <a:ext cx="1399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RESULTS</a:t>
            </a:r>
            <a:endParaRPr lang="en-US" sz="2200" dirty="0"/>
          </a:p>
        </p:txBody>
      </p:sp>
      <p:pic>
        <p:nvPicPr>
          <p:cNvPr id="19" name="Image 0" descr="/home/claude/poster_imgs/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0" y="4846320"/>
            <a:ext cx="14173200" cy="5669280"/>
          </a:xfrm>
          <a:prstGeom prst="rect">
            <a:avLst/>
          </a:prstGeom>
        </p:spPr>
      </p:pic>
      <p:pic>
        <p:nvPicPr>
          <p:cNvPr id="20" name="Image 1" descr="/home/claude/poster_imgs/trai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360" y="10652760"/>
            <a:ext cx="14173200" cy="42519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48640" y="7772400"/>
            <a:ext cx="143560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7790688"/>
            <a:ext cx="1399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685800" y="8321040"/>
            <a:ext cx="14081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(TD3, SAC) achieves high SR in open environments using raw LiDAR-to-velocity mapping.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trap scenarios (U-shaped dead ends, narrow corridors), greedy goal-directed rewards cause oscillation until timeout → 0% success rate.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have critical weaknesses: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Intrinsic motivation — helps exploration, hurts precision
   • GRU memory — improves symmetry, worsens trap escape
   • Curriculum learning — insufficient alone
   • Hierarchical RL — expensive end-to-end retraining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discover an irreconcilable exploration–precision conflict and propose STPS to resolve it via runtime policy composition.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15361920" y="7772400"/>
            <a:ext cx="143560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1"/>
          <p:cNvSpPr/>
          <p:nvPr/>
        </p:nvSpPr>
        <p:spPr>
          <a:xfrm>
            <a:off x="15544800" y="7790688"/>
            <a:ext cx="1399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EXPLORATION–PRECISION CONFLICT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15499080" y="8321040"/>
            <a:ext cx="1408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exploration bonus solves U-trap but destroys narrow door.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Annealing recovers precision but loses exploration. Single policy cannot do both.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15636240" y="9052560"/>
            <a:ext cx="4909312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20545552" y="9052560"/>
            <a:ext cx="2301240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SR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22846792" y="9052560"/>
            <a:ext cx="2301240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U-trap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25148032" y="9052560"/>
            <a:ext cx="2301240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27449272" y="9052560"/>
            <a:ext cx="1994408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15636240" y="9400032"/>
            <a:ext cx="490931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CNNTD3 baseline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20545552" y="9400032"/>
            <a:ext cx="23012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22846792" y="9400032"/>
            <a:ext cx="23012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25148032" y="9400032"/>
            <a:ext cx="23012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27449272" y="9400032"/>
            <a:ext cx="19944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15636240" y="9747504"/>
            <a:ext cx="4909312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only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20545552" y="9747504"/>
            <a:ext cx="2301240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22846792" y="9747504"/>
            <a:ext cx="2301240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25148032" y="9747504"/>
            <a:ext cx="2301240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27449272" y="9747504"/>
            <a:ext cx="1994408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15636240" y="10094976"/>
            <a:ext cx="4909312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(πE)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20545552" y="10094976"/>
            <a:ext cx="23012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22846792" y="10094976"/>
            <a:ext cx="23012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25148032" y="10094976"/>
            <a:ext cx="230124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27449272" y="10094976"/>
            <a:ext cx="1994408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300" dirty="0"/>
          </a:p>
        </p:txBody>
      </p:sp>
      <p:sp>
        <p:nvSpPr>
          <p:cNvPr id="47" name="Text 43"/>
          <p:cNvSpPr/>
          <p:nvPr/>
        </p:nvSpPr>
        <p:spPr>
          <a:xfrm>
            <a:off x="15636240" y="10442448"/>
            <a:ext cx="4909312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Annealed (πP)</a:t>
            </a:r>
            <a:endParaRPr lang="en-US" sz="1300" dirty="0"/>
          </a:p>
        </p:txBody>
      </p:sp>
      <p:sp>
        <p:nvSpPr>
          <p:cNvPr id="48" name="Text 44"/>
          <p:cNvSpPr/>
          <p:nvPr/>
        </p:nvSpPr>
        <p:spPr>
          <a:xfrm>
            <a:off x="20545552" y="10442448"/>
            <a:ext cx="2301240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22846792" y="10442448"/>
            <a:ext cx="2301240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50" name="Text 46"/>
          <p:cNvSpPr/>
          <p:nvPr/>
        </p:nvSpPr>
        <p:spPr>
          <a:xfrm>
            <a:off x="25148032" y="10442448"/>
            <a:ext cx="2301240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51" name="Text 47"/>
          <p:cNvSpPr/>
          <p:nvPr/>
        </p:nvSpPr>
        <p:spPr>
          <a:xfrm>
            <a:off x="27449272" y="10442448"/>
            <a:ext cx="1994408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15636240" y="10789920"/>
            <a:ext cx="4909312" cy="347472"/>
          </a:xfrm>
          <a:prstGeom prst="rect">
            <a:avLst/>
          </a:prstGeom>
          <a:solidFill>
            <a:srgbClr val="D4E6F1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STPS v2 (ours)</a:t>
            </a:r>
            <a:endParaRPr lang="en-US" sz="1300" dirty="0"/>
          </a:p>
        </p:txBody>
      </p:sp>
      <p:sp>
        <p:nvSpPr>
          <p:cNvPr id="53" name="Text 49"/>
          <p:cNvSpPr/>
          <p:nvPr/>
        </p:nvSpPr>
        <p:spPr>
          <a:xfrm>
            <a:off x="20545552" y="10789920"/>
            <a:ext cx="2301240" cy="347472"/>
          </a:xfrm>
          <a:prstGeom prst="rect">
            <a:avLst/>
          </a:prstGeom>
          <a:solidFill>
            <a:srgbClr val="D4E6F1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300" dirty="0"/>
          </a:p>
        </p:txBody>
      </p:sp>
      <p:sp>
        <p:nvSpPr>
          <p:cNvPr id="54" name="Text 50"/>
          <p:cNvSpPr/>
          <p:nvPr/>
        </p:nvSpPr>
        <p:spPr>
          <a:xfrm>
            <a:off x="22846792" y="10789920"/>
            <a:ext cx="2301240" cy="347472"/>
          </a:xfrm>
          <a:prstGeom prst="rect">
            <a:avLst/>
          </a:prstGeom>
          <a:solidFill>
            <a:srgbClr val="D4E6F1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25148032" y="10789920"/>
            <a:ext cx="2301240" cy="347472"/>
          </a:xfrm>
          <a:prstGeom prst="rect">
            <a:avLst/>
          </a:prstGeom>
          <a:solidFill>
            <a:srgbClr val="D4E6F1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56" name="Text 52"/>
          <p:cNvSpPr/>
          <p:nvPr/>
        </p:nvSpPr>
        <p:spPr>
          <a:xfrm>
            <a:off x="27449272" y="10789920"/>
            <a:ext cx="1994408" cy="347472"/>
          </a:xfrm>
          <a:prstGeom prst="rect">
            <a:avLst/>
          </a:prstGeom>
          <a:solidFill>
            <a:srgbClr val="D4E6F1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300" dirty="0"/>
          </a:p>
        </p:txBody>
      </p:sp>
      <p:sp>
        <p:nvSpPr>
          <p:cNvPr id="57" name="Text 53"/>
          <p:cNvSpPr/>
          <p:nvPr/>
        </p:nvSpPr>
        <p:spPr>
          <a:xfrm>
            <a:off x="15636240" y="11247120"/>
            <a:ext cx="1380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catastrophic failure (0%). STPS is the only row without red.</a:t>
            </a:r>
            <a:endParaRPr lang="en-US" sz="1200" dirty="0"/>
          </a:p>
        </p:txBody>
      </p:sp>
      <p:pic>
        <p:nvPicPr>
          <p:cNvPr id="58" name="Image 2" descr="/home/claude/poster_imgs/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0" y="11612880"/>
            <a:ext cx="6903720" cy="6213348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22722840" y="11704320"/>
            <a:ext cx="6720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oscillates at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U-trap wall (0% SR).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★ is just 1.5m away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unreachable via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policy.</a:t>
            </a:r>
            <a:endParaRPr lang="en-US" sz="1300" dirty="0"/>
          </a:p>
        </p:txBody>
      </p:sp>
      <p:sp>
        <p:nvSpPr>
          <p:cNvPr id="60" name="Shape 55"/>
          <p:cNvSpPr/>
          <p:nvPr/>
        </p:nvSpPr>
        <p:spPr>
          <a:xfrm>
            <a:off x="548640" y="12847320"/>
            <a:ext cx="2916936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1" name="Text 56"/>
          <p:cNvSpPr/>
          <p:nvPr/>
        </p:nvSpPr>
        <p:spPr>
          <a:xfrm>
            <a:off x="731520" y="12865608"/>
            <a:ext cx="2880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STALL-TRIGGERED POLICY SWITCHING (STPS)</a:t>
            </a:r>
            <a:endParaRPr lang="en-US" sz="2200" dirty="0"/>
          </a:p>
        </p:txBody>
      </p:sp>
      <p:sp>
        <p:nvSpPr>
          <p:cNvPr id="62" name="Shape 57"/>
          <p:cNvSpPr/>
          <p:nvPr/>
        </p:nvSpPr>
        <p:spPr>
          <a:xfrm>
            <a:off x="5074920" y="13487400"/>
            <a:ext cx="7315200" cy="1828800"/>
          </a:xfrm>
          <a:prstGeom prst="roundRect">
            <a:avLst>
              <a:gd name="adj" fmla="val 7500"/>
            </a:avLst>
          </a:prstGeom>
          <a:solidFill>
            <a:srgbClr val="EBF8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5074920" y="1357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MODE — Precision Policy πP</a:t>
            </a:r>
            <a:endParaRPr lang="en-US" sz="1800" dirty="0"/>
          </a:p>
        </p:txBody>
      </p:sp>
      <p:sp>
        <p:nvSpPr>
          <p:cNvPr id="64" name="Text 59"/>
          <p:cNvSpPr/>
          <p:nvPr/>
        </p:nvSpPr>
        <p:spPr>
          <a:xfrm>
            <a:off x="5532120" y="14036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goal-directed navigation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Forward-only differential drive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STATE</a:t>
            </a:r>
            <a:endParaRPr lang="en-US" sz="1300" dirty="0"/>
          </a:p>
        </p:txBody>
      </p:sp>
      <p:sp>
        <p:nvSpPr>
          <p:cNvPr id="65" name="Shape 60"/>
          <p:cNvSpPr/>
          <p:nvPr/>
        </p:nvSpPr>
        <p:spPr>
          <a:xfrm>
            <a:off x="17876520" y="13487400"/>
            <a:ext cx="7315200" cy="1828800"/>
          </a:xfrm>
          <a:prstGeom prst="roundRect">
            <a:avLst>
              <a:gd name="adj" fmla="val 7500"/>
            </a:avLst>
          </a:prstGeom>
          <a:solidFill>
            <a:srgbClr val="FFF5F5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17876520" y="1357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MODE — Exploration Policy πE</a:t>
            </a:r>
            <a:endParaRPr lang="en-US" sz="1800" dirty="0"/>
          </a:p>
        </p:txBody>
      </p:sp>
      <p:sp>
        <p:nvSpPr>
          <p:cNvPr id="67" name="Text 62"/>
          <p:cNvSpPr/>
          <p:nvPr/>
        </p:nvSpPr>
        <p:spPr>
          <a:xfrm>
            <a:off x="18333720" y="14036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Novelty-seeking navigation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Position-history exploration bonus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(≥120 steps)</a:t>
            </a:r>
            <a:endParaRPr lang="en-US" sz="1300" dirty="0"/>
          </a:p>
        </p:txBody>
      </p:sp>
      <p:sp>
        <p:nvSpPr>
          <p:cNvPr id="68" name="Shape 63"/>
          <p:cNvSpPr/>
          <p:nvPr/>
        </p:nvSpPr>
        <p:spPr>
          <a:xfrm>
            <a:off x="12390120" y="13944600"/>
            <a:ext cx="5486400" cy="0"/>
          </a:xfrm>
          <a:prstGeom prst="line">
            <a:avLst/>
          </a:prstGeom>
          <a:noFill/>
          <a:ln w="31750">
            <a:solidFill>
              <a:srgbClr val="C53030"/>
            </a:solidFill>
            <a:prstDash val="solid"/>
            <a:tailEnd type="triangle"/>
          </a:ln>
        </p:spPr>
      </p:sp>
      <p:sp>
        <p:nvSpPr>
          <p:cNvPr id="69" name="Shape 64"/>
          <p:cNvSpPr/>
          <p:nvPr/>
        </p:nvSpPr>
        <p:spPr>
          <a:xfrm>
            <a:off x="12847320" y="1298448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12847320" y="1298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‖xₜ − xₜ₋₂₀‖ &lt; 0.15m  OR  oscillation ≥ 5 rev/12 steps</a:t>
            </a:r>
            <a:endParaRPr lang="en-US" sz="1100" dirty="0"/>
          </a:p>
        </p:txBody>
      </p:sp>
      <p:sp>
        <p:nvSpPr>
          <p:cNvPr id="71" name="Shape 66"/>
          <p:cNvSpPr/>
          <p:nvPr/>
        </p:nvSpPr>
        <p:spPr>
          <a:xfrm>
            <a:off x="12390120" y="15041880"/>
            <a:ext cx="5486400" cy="0"/>
          </a:xfrm>
          <a:prstGeom prst="line">
            <a:avLst/>
          </a:prstGeom>
          <a:noFill/>
          <a:ln w="31750">
            <a:solidFill>
              <a:srgbClr val="276749"/>
            </a:solidFill>
            <a:prstDash val="solid"/>
            <a:headEnd type="triangle"/>
          </a:ln>
        </p:spPr>
      </p:sp>
      <p:sp>
        <p:nvSpPr>
          <p:cNvPr id="72" name="Shape 67"/>
          <p:cNvSpPr/>
          <p:nvPr/>
        </p:nvSpPr>
        <p:spPr>
          <a:xfrm>
            <a:off x="12847320" y="1522476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F0FFF4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12847320" y="15224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≥ 120 steps  AND  ‖xₜ − xₛᵥ‖ &gt; 0.5m</a:t>
            </a:r>
            <a:endParaRPr lang="en-US" sz="1100" dirty="0"/>
          </a:p>
        </p:txBody>
      </p:sp>
      <p:sp>
        <p:nvSpPr>
          <p:cNvPr id="74" name="Text 69"/>
          <p:cNvSpPr/>
          <p:nvPr/>
        </p:nvSpPr>
        <p:spPr>
          <a:xfrm>
            <a:off x="1005840" y="1586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training cost — both policies frozen, only runtime logic added</a:t>
            </a:r>
            <a:endParaRPr lang="en-US" sz="1300" dirty="0"/>
          </a:p>
        </p:txBody>
      </p:sp>
      <p:sp>
        <p:nvSpPr>
          <p:cNvPr id="75" name="Text 70"/>
          <p:cNvSpPr/>
          <p:nvPr/>
        </p:nvSpPr>
        <p:spPr>
          <a:xfrm>
            <a:off x="10607040" y="1586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Negligible overhead — one distance check per step (&lt;0.1ms)</a:t>
            </a:r>
            <a:endParaRPr lang="en-US" sz="1300" dirty="0"/>
          </a:p>
        </p:txBody>
      </p:sp>
      <p:sp>
        <p:nvSpPr>
          <p:cNvPr id="76" name="Text 71"/>
          <p:cNvSpPr/>
          <p:nvPr/>
        </p:nvSpPr>
        <p:spPr>
          <a:xfrm>
            <a:off x="20208240" y="15864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Real-robot ready — simple if-else logic, deployable on AgileX LIMO</a:t>
            </a:r>
            <a:endParaRPr lang="en-US" sz="1300" dirty="0"/>
          </a:p>
        </p:txBody>
      </p:sp>
      <p:sp>
        <p:nvSpPr>
          <p:cNvPr id="77" name="Shape 72"/>
          <p:cNvSpPr/>
          <p:nvPr/>
        </p:nvSpPr>
        <p:spPr>
          <a:xfrm>
            <a:off x="548640" y="16230600"/>
            <a:ext cx="143560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8" name="Text 73"/>
          <p:cNvSpPr/>
          <p:nvPr/>
        </p:nvSpPr>
        <p:spPr>
          <a:xfrm>
            <a:off x="731520" y="16248888"/>
            <a:ext cx="1399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SETUP</a:t>
            </a:r>
            <a:endParaRPr lang="en-US" sz="2200" dirty="0"/>
          </a:p>
        </p:txBody>
      </p:sp>
      <p:sp>
        <p:nvSpPr>
          <p:cNvPr id="79" name="Text 74"/>
          <p:cNvSpPr/>
          <p:nvPr/>
        </p:nvSpPr>
        <p:spPr>
          <a:xfrm>
            <a:off x="685800" y="16779240"/>
            <a:ext cx="14081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IR-SIM 2D v2.7.5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Differential-drive, r=0.2m, v_max=0.5m/s, ω_max=1.0rad/s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180-beam LiDAR, 180° FOV, 7m range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10×10m worlds, 0.3s control steps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CNN-TD3, state=185-dim, lr=1e-4, batch=64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(100ep), U-trap, Double-U, Narrow door (0.45m), Corridor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 × 12 perturbed starts/scenario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{42, 123, 2026}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eval_stps_v2.py</a:t>
            </a:r>
            <a:endParaRPr lang="en-US" sz="1400" dirty="0"/>
          </a:p>
        </p:txBody>
      </p:sp>
      <p:sp>
        <p:nvSpPr>
          <p:cNvPr id="80" name="Shape 75"/>
          <p:cNvSpPr/>
          <p:nvPr/>
        </p:nvSpPr>
        <p:spPr>
          <a:xfrm>
            <a:off x="15361920" y="16230600"/>
            <a:ext cx="143560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1" name="Text 76"/>
          <p:cNvSpPr/>
          <p:nvPr/>
        </p:nvSpPr>
        <p:spPr>
          <a:xfrm>
            <a:off x="15544800" y="16248888"/>
            <a:ext cx="1399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RL METRICS (Standard Env, n=100)</a:t>
            </a:r>
            <a:endParaRPr lang="en-US" sz="2200" dirty="0"/>
          </a:p>
        </p:txBody>
      </p:sp>
      <p:sp>
        <p:nvSpPr>
          <p:cNvPr id="82" name="Text 77"/>
          <p:cNvSpPr/>
          <p:nvPr/>
        </p:nvSpPr>
        <p:spPr>
          <a:xfrm>
            <a:off x="15636240" y="16824960"/>
            <a:ext cx="5310554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300" dirty="0"/>
          </a:p>
        </p:txBody>
      </p:sp>
      <p:sp>
        <p:nvSpPr>
          <p:cNvPr id="83" name="Text 78"/>
          <p:cNvSpPr/>
          <p:nvPr/>
        </p:nvSpPr>
        <p:spPr>
          <a:xfrm>
            <a:off x="20946794" y="16824960"/>
            <a:ext cx="2920805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300" dirty="0"/>
          </a:p>
        </p:txBody>
      </p:sp>
      <p:sp>
        <p:nvSpPr>
          <p:cNvPr id="84" name="Text 79"/>
          <p:cNvSpPr/>
          <p:nvPr/>
        </p:nvSpPr>
        <p:spPr>
          <a:xfrm>
            <a:off x="23867598" y="16824960"/>
            <a:ext cx="2920805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STPS v2</a:t>
            </a:r>
            <a:endParaRPr lang="en-US" sz="1300" dirty="0"/>
          </a:p>
        </p:txBody>
      </p:sp>
      <p:sp>
        <p:nvSpPr>
          <p:cNvPr id="85" name="Text 80"/>
          <p:cNvSpPr/>
          <p:nvPr/>
        </p:nvSpPr>
        <p:spPr>
          <a:xfrm>
            <a:off x="26788403" y="16824960"/>
            <a:ext cx="2655277" cy="347472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endParaRPr lang="en-US" sz="1300" dirty="0"/>
          </a:p>
        </p:txBody>
      </p:sp>
      <p:sp>
        <p:nvSpPr>
          <p:cNvPr id="86" name="Text 81"/>
          <p:cNvSpPr/>
          <p:nvPr/>
        </p:nvSpPr>
        <p:spPr>
          <a:xfrm>
            <a:off x="15636240" y="17172432"/>
            <a:ext cx="531055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Rate</a:t>
            </a:r>
            <a:endParaRPr lang="en-US" sz="1300" dirty="0"/>
          </a:p>
        </p:txBody>
      </p:sp>
      <p:sp>
        <p:nvSpPr>
          <p:cNvPr id="87" name="Text 82"/>
          <p:cNvSpPr/>
          <p:nvPr/>
        </p:nvSpPr>
        <p:spPr>
          <a:xfrm>
            <a:off x="20946794" y="17172432"/>
            <a:ext cx="2920805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300" dirty="0"/>
          </a:p>
        </p:txBody>
      </p:sp>
      <p:sp>
        <p:nvSpPr>
          <p:cNvPr id="88" name="Text 83"/>
          <p:cNvSpPr/>
          <p:nvPr/>
        </p:nvSpPr>
        <p:spPr>
          <a:xfrm>
            <a:off x="23867598" y="17172432"/>
            <a:ext cx="2920805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300" dirty="0"/>
          </a:p>
        </p:txBody>
      </p:sp>
      <p:sp>
        <p:nvSpPr>
          <p:cNvPr id="89" name="Text 84"/>
          <p:cNvSpPr/>
          <p:nvPr/>
        </p:nvSpPr>
        <p:spPr>
          <a:xfrm>
            <a:off x="26788403" y="17172432"/>
            <a:ext cx="2655277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+1%</a:t>
            </a:r>
            <a:endParaRPr lang="en-US" sz="1300" dirty="0"/>
          </a:p>
        </p:txBody>
      </p:sp>
      <p:sp>
        <p:nvSpPr>
          <p:cNvPr id="90" name="Text 85"/>
          <p:cNvSpPr/>
          <p:nvPr/>
        </p:nvSpPr>
        <p:spPr>
          <a:xfrm>
            <a:off x="15636240" y="17519904"/>
            <a:ext cx="5310554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Collision Rate</a:t>
            </a:r>
            <a:endParaRPr lang="en-US" sz="1300" dirty="0"/>
          </a:p>
        </p:txBody>
      </p:sp>
      <p:sp>
        <p:nvSpPr>
          <p:cNvPr id="91" name="Text 86"/>
          <p:cNvSpPr/>
          <p:nvPr/>
        </p:nvSpPr>
        <p:spPr>
          <a:xfrm>
            <a:off x="20946794" y="17519904"/>
            <a:ext cx="2920805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300" dirty="0"/>
          </a:p>
        </p:txBody>
      </p:sp>
      <p:sp>
        <p:nvSpPr>
          <p:cNvPr id="92" name="Text 87"/>
          <p:cNvSpPr/>
          <p:nvPr/>
        </p:nvSpPr>
        <p:spPr>
          <a:xfrm>
            <a:off x="23867598" y="17519904"/>
            <a:ext cx="2920805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300" dirty="0"/>
          </a:p>
        </p:txBody>
      </p:sp>
      <p:sp>
        <p:nvSpPr>
          <p:cNvPr id="93" name="Text 88"/>
          <p:cNvSpPr/>
          <p:nvPr/>
        </p:nvSpPr>
        <p:spPr>
          <a:xfrm>
            <a:off x="26788403" y="17519904"/>
            <a:ext cx="2655277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94" name="Text 89"/>
          <p:cNvSpPr/>
          <p:nvPr/>
        </p:nvSpPr>
        <p:spPr>
          <a:xfrm>
            <a:off x="15636240" y="17867376"/>
            <a:ext cx="531055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Reward</a:t>
            </a:r>
            <a:endParaRPr lang="en-US" sz="1300" dirty="0"/>
          </a:p>
        </p:txBody>
      </p:sp>
      <p:sp>
        <p:nvSpPr>
          <p:cNvPr id="95" name="Text 90"/>
          <p:cNvSpPr/>
          <p:nvPr/>
        </p:nvSpPr>
        <p:spPr>
          <a:xfrm>
            <a:off x="20946794" y="17867376"/>
            <a:ext cx="2920805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63.5</a:t>
            </a:r>
            <a:endParaRPr lang="en-US" sz="1300" dirty="0"/>
          </a:p>
        </p:txBody>
      </p:sp>
      <p:sp>
        <p:nvSpPr>
          <p:cNvPr id="96" name="Text 91"/>
          <p:cNvSpPr/>
          <p:nvPr/>
        </p:nvSpPr>
        <p:spPr>
          <a:xfrm>
            <a:off x="23867598" y="17867376"/>
            <a:ext cx="2920805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</a:t>
            </a:r>
            <a:endParaRPr lang="en-US" sz="1300" dirty="0"/>
          </a:p>
        </p:txBody>
      </p:sp>
      <p:sp>
        <p:nvSpPr>
          <p:cNvPr id="97" name="Text 92"/>
          <p:cNvSpPr/>
          <p:nvPr/>
        </p:nvSpPr>
        <p:spPr>
          <a:xfrm>
            <a:off x="26788403" y="17867376"/>
            <a:ext cx="2655277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+2.1</a:t>
            </a:r>
            <a:endParaRPr lang="en-US" sz="1300" dirty="0"/>
          </a:p>
        </p:txBody>
      </p:sp>
      <p:sp>
        <p:nvSpPr>
          <p:cNvPr id="98" name="Text 93"/>
          <p:cNvSpPr/>
          <p:nvPr/>
        </p:nvSpPr>
        <p:spPr>
          <a:xfrm>
            <a:off x="15636240" y="18214848"/>
            <a:ext cx="5310554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Length (succ)</a:t>
            </a:r>
            <a:endParaRPr lang="en-US" sz="1300" dirty="0"/>
          </a:p>
        </p:txBody>
      </p:sp>
      <p:sp>
        <p:nvSpPr>
          <p:cNvPr id="99" name="Text 94"/>
          <p:cNvSpPr/>
          <p:nvPr/>
        </p:nvSpPr>
        <p:spPr>
          <a:xfrm>
            <a:off x="20946794" y="18214848"/>
            <a:ext cx="2920805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4.13m</a:t>
            </a:r>
            <a:endParaRPr lang="en-US" sz="1300" dirty="0"/>
          </a:p>
        </p:txBody>
      </p:sp>
      <p:sp>
        <p:nvSpPr>
          <p:cNvPr id="100" name="Text 95"/>
          <p:cNvSpPr/>
          <p:nvPr/>
        </p:nvSpPr>
        <p:spPr>
          <a:xfrm>
            <a:off x="23867598" y="18214848"/>
            <a:ext cx="2920805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5.59m</a:t>
            </a:r>
            <a:endParaRPr lang="en-US" sz="1300" dirty="0"/>
          </a:p>
        </p:txBody>
      </p:sp>
      <p:sp>
        <p:nvSpPr>
          <p:cNvPr id="101" name="Text 96"/>
          <p:cNvSpPr/>
          <p:nvPr/>
        </p:nvSpPr>
        <p:spPr>
          <a:xfrm>
            <a:off x="26788403" y="18214848"/>
            <a:ext cx="2655277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+1.46m</a:t>
            </a:r>
            <a:endParaRPr lang="en-US" sz="1300" dirty="0"/>
          </a:p>
        </p:txBody>
      </p:sp>
      <p:sp>
        <p:nvSpPr>
          <p:cNvPr id="102" name="Text 97"/>
          <p:cNvSpPr/>
          <p:nvPr/>
        </p:nvSpPr>
        <p:spPr>
          <a:xfrm>
            <a:off x="15636240" y="18562320"/>
            <a:ext cx="5310554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Efficiency</a:t>
            </a:r>
            <a:endParaRPr lang="en-US" sz="1300" dirty="0"/>
          </a:p>
        </p:txBody>
      </p:sp>
      <p:sp>
        <p:nvSpPr>
          <p:cNvPr id="103" name="Text 98"/>
          <p:cNvSpPr/>
          <p:nvPr/>
        </p:nvSpPr>
        <p:spPr>
          <a:xfrm>
            <a:off x="20946794" y="18562320"/>
            <a:ext cx="2920805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1300" dirty="0"/>
          </a:p>
        </p:txBody>
      </p:sp>
      <p:sp>
        <p:nvSpPr>
          <p:cNvPr id="104" name="Text 99"/>
          <p:cNvSpPr/>
          <p:nvPr/>
        </p:nvSpPr>
        <p:spPr>
          <a:xfrm>
            <a:off x="23867598" y="18562320"/>
            <a:ext cx="2920805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1300" dirty="0"/>
          </a:p>
        </p:txBody>
      </p:sp>
      <p:sp>
        <p:nvSpPr>
          <p:cNvPr id="105" name="Text 100"/>
          <p:cNvSpPr/>
          <p:nvPr/>
        </p:nvSpPr>
        <p:spPr>
          <a:xfrm>
            <a:off x="26788403" y="18562320"/>
            <a:ext cx="2655277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−0.12</a:t>
            </a:r>
            <a:endParaRPr lang="en-US" sz="1300" dirty="0"/>
          </a:p>
        </p:txBody>
      </p:sp>
      <p:sp>
        <p:nvSpPr>
          <p:cNvPr id="106" name="Text 101"/>
          <p:cNvSpPr/>
          <p:nvPr/>
        </p:nvSpPr>
        <p:spPr>
          <a:xfrm>
            <a:off x="15636240" y="18909792"/>
            <a:ext cx="5310554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Steps</a:t>
            </a:r>
            <a:endParaRPr lang="en-US" sz="1300" dirty="0"/>
          </a:p>
        </p:txBody>
      </p:sp>
      <p:sp>
        <p:nvSpPr>
          <p:cNvPr id="107" name="Text 102"/>
          <p:cNvSpPr/>
          <p:nvPr/>
        </p:nvSpPr>
        <p:spPr>
          <a:xfrm>
            <a:off x="20946794" y="18909792"/>
            <a:ext cx="2920805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300" dirty="0"/>
          </a:p>
        </p:txBody>
      </p:sp>
      <p:sp>
        <p:nvSpPr>
          <p:cNvPr id="108" name="Text 103"/>
          <p:cNvSpPr/>
          <p:nvPr/>
        </p:nvSpPr>
        <p:spPr>
          <a:xfrm>
            <a:off x="23867598" y="18909792"/>
            <a:ext cx="2920805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300" dirty="0"/>
          </a:p>
        </p:txBody>
      </p:sp>
      <p:sp>
        <p:nvSpPr>
          <p:cNvPr id="109" name="Text 104"/>
          <p:cNvSpPr/>
          <p:nvPr/>
        </p:nvSpPr>
        <p:spPr>
          <a:xfrm>
            <a:off x="26788403" y="18909792"/>
            <a:ext cx="2655277" cy="347472"/>
          </a:xfrm>
          <a:prstGeom prst="rect">
            <a:avLst/>
          </a:prstGeom>
          <a:solidFill>
            <a:srgbClr val="EDF2F7"/>
          </a:solidFill>
          <a:ln w="3810">
            <a:solidFill>
              <a:srgbClr val="CBD5E0"/>
            </a:solidFill>
          </a:ln>
        </p:spPr>
        <p:txBody>
          <a:bodyPr wrap="square" lIns="0" tIns="38100" rIns="381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</a:t>
            </a:r>
            <a:endParaRPr lang="en-US" sz="1300" dirty="0"/>
          </a:p>
        </p:txBody>
      </p:sp>
      <p:sp>
        <p:nvSpPr>
          <p:cNvPr id="110" name="Text 105"/>
          <p:cNvSpPr/>
          <p:nvPr/>
        </p:nvSpPr>
        <p:spPr>
          <a:xfrm>
            <a:off x="15544800" y="19339560"/>
            <a:ext cx="1399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STPS trades path efficiency (0.93→0.81) for robustness: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paths due to escape detours, but zero catastrophic failures.</a:t>
            </a:r>
            <a:endParaRPr lang="en-US" sz="1200" dirty="0"/>
          </a:p>
        </p:txBody>
      </p:sp>
      <p:sp>
        <p:nvSpPr>
          <p:cNvPr id="111" name="Shape 106"/>
          <p:cNvSpPr/>
          <p:nvPr/>
        </p:nvSpPr>
        <p:spPr>
          <a:xfrm>
            <a:off x="548640" y="19979640"/>
            <a:ext cx="2916936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2" name="Text 107"/>
          <p:cNvSpPr/>
          <p:nvPr/>
        </p:nvSpPr>
        <p:spPr>
          <a:xfrm>
            <a:off x="731520" y="19997928"/>
            <a:ext cx="2880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&amp; FAILURE CASE ANALYSIS (3 Failures + 3 Successes)</a:t>
            </a:r>
            <a:endParaRPr lang="en-US" sz="2200" dirty="0"/>
          </a:p>
        </p:txBody>
      </p:sp>
      <p:sp>
        <p:nvSpPr>
          <p:cNvPr id="113" name="Shape 108"/>
          <p:cNvSpPr/>
          <p:nvPr/>
        </p:nvSpPr>
        <p:spPr>
          <a:xfrm>
            <a:off x="822960" y="20509992"/>
            <a:ext cx="4678680" cy="4947666"/>
          </a:xfrm>
          <a:prstGeom prst="rect">
            <a:avLst/>
          </a:prstGeom>
          <a:solidFill>
            <a:srgbClr val="FFF5F5"/>
          </a:solidFill>
          <a:ln w="15240">
            <a:solidFill>
              <a:srgbClr val="C53030"/>
            </a:solidFill>
            <a:prstDash val="solid"/>
          </a:ln>
        </p:spPr>
      </p:sp>
      <p:pic>
        <p:nvPicPr>
          <p:cNvPr id="114" name="Image 3" descr="/home/claude/poster_imgs/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0546568"/>
            <a:ext cx="4587240" cy="4357878"/>
          </a:xfrm>
          <a:prstGeom prst="rect">
            <a:avLst/>
          </a:prstGeom>
        </p:spPr>
      </p:pic>
      <p:sp>
        <p:nvSpPr>
          <p:cNvPr id="115" name="Text 109"/>
          <p:cNvSpPr/>
          <p:nvPr/>
        </p:nvSpPr>
        <p:spPr>
          <a:xfrm>
            <a:off x="822960" y="24927306"/>
            <a:ext cx="467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FAIL: Baseline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U-trap (TIMEOUT)</a:t>
            </a:r>
            <a:endParaRPr lang="en-US" sz="1000" dirty="0"/>
          </a:p>
        </p:txBody>
      </p:sp>
      <p:sp>
        <p:nvSpPr>
          <p:cNvPr id="116" name="Shape 110"/>
          <p:cNvSpPr/>
          <p:nvPr/>
        </p:nvSpPr>
        <p:spPr>
          <a:xfrm>
            <a:off x="5574792" y="20509992"/>
            <a:ext cx="4678680" cy="4947666"/>
          </a:xfrm>
          <a:prstGeom prst="rect">
            <a:avLst/>
          </a:prstGeom>
          <a:solidFill>
            <a:srgbClr val="FFF5F5"/>
          </a:solidFill>
          <a:ln w="15240">
            <a:solidFill>
              <a:srgbClr val="C53030"/>
            </a:solidFill>
            <a:prstDash val="solid"/>
          </a:ln>
        </p:spPr>
      </p:sp>
      <p:pic>
        <p:nvPicPr>
          <p:cNvPr id="117" name="Image 4" descr="/home/claude/poster_imgs/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0512" y="20546568"/>
            <a:ext cx="4587240" cy="4357878"/>
          </a:xfrm>
          <a:prstGeom prst="rect">
            <a:avLst/>
          </a:prstGeom>
        </p:spPr>
      </p:pic>
      <p:sp>
        <p:nvSpPr>
          <p:cNvPr id="118" name="Text 111"/>
          <p:cNvSpPr/>
          <p:nvPr/>
        </p:nvSpPr>
        <p:spPr>
          <a:xfrm>
            <a:off x="5574792" y="24927306"/>
            <a:ext cx="467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FAIL: πE Narrow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(COLLISION)</a:t>
            </a:r>
            <a:endParaRPr lang="en-US" sz="1000" dirty="0"/>
          </a:p>
        </p:txBody>
      </p:sp>
      <p:sp>
        <p:nvSpPr>
          <p:cNvPr id="119" name="Shape 112"/>
          <p:cNvSpPr/>
          <p:nvPr/>
        </p:nvSpPr>
        <p:spPr>
          <a:xfrm>
            <a:off x="10326624" y="20509992"/>
            <a:ext cx="4678680" cy="4947666"/>
          </a:xfrm>
          <a:prstGeom prst="rect">
            <a:avLst/>
          </a:prstGeom>
          <a:solidFill>
            <a:srgbClr val="FFF5F5"/>
          </a:solidFill>
          <a:ln w="15240">
            <a:solidFill>
              <a:srgbClr val="B7791F"/>
            </a:solidFill>
            <a:prstDash val="solid"/>
          </a:ln>
        </p:spPr>
      </p:sp>
      <p:pic>
        <p:nvPicPr>
          <p:cNvPr id="120" name="Image 5" descr="/home/claude/poster_imgs/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2344" y="20546568"/>
            <a:ext cx="4587240" cy="4357878"/>
          </a:xfrm>
          <a:prstGeom prst="rect">
            <a:avLst/>
          </a:prstGeom>
        </p:spPr>
      </p:pic>
      <p:sp>
        <p:nvSpPr>
          <p:cNvPr id="121" name="Text 113"/>
          <p:cNvSpPr/>
          <p:nvPr/>
        </p:nvSpPr>
        <p:spPr>
          <a:xfrm>
            <a:off x="10326624" y="24927306"/>
            <a:ext cx="467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FAIL: Annealed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U-trap (TIMEOUT)</a:t>
            </a:r>
            <a:endParaRPr lang="en-US" sz="1000" dirty="0"/>
          </a:p>
        </p:txBody>
      </p:sp>
      <p:sp>
        <p:nvSpPr>
          <p:cNvPr id="122" name="Shape 114"/>
          <p:cNvSpPr/>
          <p:nvPr/>
        </p:nvSpPr>
        <p:spPr>
          <a:xfrm>
            <a:off x="15078456" y="20509992"/>
            <a:ext cx="4678680" cy="4947666"/>
          </a:xfrm>
          <a:prstGeom prst="rect">
            <a:avLst/>
          </a:prstGeom>
          <a:solidFill>
            <a:srgbClr val="F0FFF4"/>
          </a:solidFill>
          <a:ln w="15240">
            <a:solidFill>
              <a:srgbClr val="276749"/>
            </a:solidFill>
            <a:prstDash val="solid"/>
          </a:ln>
        </p:spPr>
      </p:sp>
      <p:pic>
        <p:nvPicPr>
          <p:cNvPr id="123" name="Image 6" descr="/home/claude/poster_imgs/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4176" y="20546568"/>
            <a:ext cx="4587240" cy="4357878"/>
          </a:xfrm>
          <a:prstGeom prst="rect">
            <a:avLst/>
          </a:prstGeom>
        </p:spPr>
      </p:pic>
      <p:sp>
        <p:nvSpPr>
          <p:cNvPr id="124" name="Text 115"/>
          <p:cNvSpPr/>
          <p:nvPr/>
        </p:nvSpPr>
        <p:spPr>
          <a:xfrm>
            <a:off x="15078456" y="24927306"/>
            <a:ext cx="467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PASS: STPS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U-trap (SUCCESS)</a:t>
            </a:r>
            <a:endParaRPr lang="en-US" sz="1000" dirty="0"/>
          </a:p>
        </p:txBody>
      </p:sp>
      <p:sp>
        <p:nvSpPr>
          <p:cNvPr id="125" name="Shape 116"/>
          <p:cNvSpPr/>
          <p:nvPr/>
        </p:nvSpPr>
        <p:spPr>
          <a:xfrm>
            <a:off x="19830288" y="20509992"/>
            <a:ext cx="4678680" cy="4947666"/>
          </a:xfrm>
          <a:prstGeom prst="rect">
            <a:avLst/>
          </a:prstGeom>
          <a:solidFill>
            <a:srgbClr val="F0FFF4"/>
          </a:solidFill>
          <a:ln w="15240">
            <a:solidFill>
              <a:srgbClr val="276749"/>
            </a:solidFill>
            <a:prstDash val="solid"/>
          </a:ln>
        </p:spPr>
      </p:sp>
      <p:pic>
        <p:nvPicPr>
          <p:cNvPr id="126" name="Image 7" descr="/home/claude/poster_imgs/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6008" y="20546568"/>
            <a:ext cx="4587240" cy="4357878"/>
          </a:xfrm>
          <a:prstGeom prst="rect">
            <a:avLst/>
          </a:prstGeom>
        </p:spPr>
      </p:pic>
      <p:sp>
        <p:nvSpPr>
          <p:cNvPr id="127" name="Text 117"/>
          <p:cNvSpPr/>
          <p:nvPr/>
        </p:nvSpPr>
        <p:spPr>
          <a:xfrm>
            <a:off x="19830288" y="24927306"/>
            <a:ext cx="467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PASS: STPS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(SUCCESS)</a:t>
            </a:r>
            <a:endParaRPr lang="en-US" sz="1000" dirty="0"/>
          </a:p>
        </p:txBody>
      </p:sp>
      <p:sp>
        <p:nvSpPr>
          <p:cNvPr id="128" name="Shape 118"/>
          <p:cNvSpPr/>
          <p:nvPr/>
        </p:nvSpPr>
        <p:spPr>
          <a:xfrm>
            <a:off x="24582120" y="20509992"/>
            <a:ext cx="4678680" cy="4947666"/>
          </a:xfrm>
          <a:prstGeom prst="rect">
            <a:avLst/>
          </a:prstGeom>
          <a:solidFill>
            <a:srgbClr val="F0FFF4"/>
          </a:solidFill>
          <a:ln w="15240">
            <a:solidFill>
              <a:srgbClr val="276749"/>
            </a:solidFill>
            <a:prstDash val="solid"/>
          </a:ln>
        </p:spPr>
      </p:sp>
      <p:pic>
        <p:nvPicPr>
          <p:cNvPr id="129" name="Image 8" descr="/home/claude/poster_imgs/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27840" y="20546568"/>
            <a:ext cx="4587240" cy="4357878"/>
          </a:xfrm>
          <a:prstGeom prst="rect">
            <a:avLst/>
          </a:prstGeom>
        </p:spPr>
      </p:pic>
      <p:sp>
        <p:nvSpPr>
          <p:cNvPr id="130" name="Text 119"/>
          <p:cNvSpPr/>
          <p:nvPr/>
        </p:nvSpPr>
        <p:spPr>
          <a:xfrm>
            <a:off x="24582120" y="24927306"/>
            <a:ext cx="467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PASS: STPS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(SUCCESS)</a:t>
            </a:r>
            <a:endParaRPr lang="en-US" sz="1000" dirty="0"/>
          </a:p>
        </p:txBody>
      </p:sp>
      <p:sp>
        <p:nvSpPr>
          <p:cNvPr id="131" name="Shape 120"/>
          <p:cNvSpPr/>
          <p:nvPr/>
        </p:nvSpPr>
        <p:spPr>
          <a:xfrm>
            <a:off x="548640" y="25521666"/>
            <a:ext cx="143560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2" name="Text 121"/>
          <p:cNvSpPr/>
          <p:nvPr/>
        </p:nvSpPr>
        <p:spPr>
          <a:xfrm>
            <a:off x="731520" y="25539954"/>
            <a:ext cx="1399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SENSITIVITY</a:t>
            </a:r>
            <a:endParaRPr lang="en-US" sz="2200" dirty="0"/>
          </a:p>
        </p:txBody>
      </p:sp>
      <p:sp>
        <p:nvSpPr>
          <p:cNvPr id="133" name="Text 122"/>
          <p:cNvSpPr/>
          <p:nvPr/>
        </p:nvSpPr>
        <p:spPr>
          <a:xfrm>
            <a:off x="685800" y="26070306"/>
            <a:ext cx="1408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U-trap SR (%) / Narrow-door SR (%) — K=120, δ_prog=0.5m</a:t>
            </a:r>
            <a:endParaRPr lang="en-US" sz="1300" dirty="0"/>
          </a:p>
        </p:txBody>
      </p:sp>
      <p:sp>
        <p:nvSpPr>
          <p:cNvPr id="134" name="Text 123"/>
          <p:cNvSpPr/>
          <p:nvPr/>
        </p:nvSpPr>
        <p:spPr>
          <a:xfrm>
            <a:off x="1097280" y="26481786"/>
            <a:ext cx="3246120" cy="384048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35" name="Text 124"/>
          <p:cNvSpPr/>
          <p:nvPr/>
        </p:nvSpPr>
        <p:spPr>
          <a:xfrm>
            <a:off x="4343400" y="26481786"/>
            <a:ext cx="3246120" cy="384048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δ=0.10</a:t>
            </a:r>
            <a:endParaRPr lang="en-US" sz="1300" dirty="0"/>
          </a:p>
        </p:txBody>
      </p:sp>
      <p:sp>
        <p:nvSpPr>
          <p:cNvPr id="136" name="Text 125"/>
          <p:cNvSpPr/>
          <p:nvPr/>
        </p:nvSpPr>
        <p:spPr>
          <a:xfrm>
            <a:off x="7589520" y="26481786"/>
            <a:ext cx="3246120" cy="384048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δ=0.15</a:t>
            </a:r>
            <a:endParaRPr lang="en-US" sz="1300" dirty="0"/>
          </a:p>
        </p:txBody>
      </p:sp>
      <p:sp>
        <p:nvSpPr>
          <p:cNvPr id="137" name="Text 126"/>
          <p:cNvSpPr/>
          <p:nvPr/>
        </p:nvSpPr>
        <p:spPr>
          <a:xfrm>
            <a:off x="10835640" y="26481786"/>
            <a:ext cx="3246120" cy="384048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δ=0.20</a:t>
            </a:r>
            <a:endParaRPr lang="en-US" sz="1300" dirty="0"/>
          </a:p>
        </p:txBody>
      </p:sp>
      <p:sp>
        <p:nvSpPr>
          <p:cNvPr id="138" name="Text 127"/>
          <p:cNvSpPr/>
          <p:nvPr/>
        </p:nvSpPr>
        <p:spPr>
          <a:xfrm>
            <a:off x="1097280" y="26865834"/>
            <a:ext cx="3246120" cy="384048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W=15</a:t>
            </a:r>
            <a:endParaRPr lang="en-US" sz="1300" dirty="0"/>
          </a:p>
        </p:txBody>
      </p:sp>
      <p:sp>
        <p:nvSpPr>
          <p:cNvPr id="139" name="Text 128"/>
          <p:cNvSpPr/>
          <p:nvPr/>
        </p:nvSpPr>
        <p:spPr>
          <a:xfrm>
            <a:off x="4343400" y="26865834"/>
            <a:ext cx="3246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100</a:t>
            </a:r>
            <a:endParaRPr lang="en-US" sz="1300" dirty="0"/>
          </a:p>
        </p:txBody>
      </p:sp>
      <p:sp>
        <p:nvSpPr>
          <p:cNvPr id="140" name="Text 129"/>
          <p:cNvSpPr/>
          <p:nvPr/>
        </p:nvSpPr>
        <p:spPr>
          <a:xfrm>
            <a:off x="7589520" y="26865834"/>
            <a:ext cx="3246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100</a:t>
            </a:r>
            <a:endParaRPr lang="en-US" sz="1300" dirty="0"/>
          </a:p>
        </p:txBody>
      </p:sp>
      <p:sp>
        <p:nvSpPr>
          <p:cNvPr id="141" name="Text 130"/>
          <p:cNvSpPr/>
          <p:nvPr/>
        </p:nvSpPr>
        <p:spPr>
          <a:xfrm>
            <a:off x="10835640" y="26865834"/>
            <a:ext cx="3246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100</a:t>
            </a:r>
            <a:endParaRPr lang="en-US" sz="1300" dirty="0"/>
          </a:p>
        </p:txBody>
      </p:sp>
      <p:sp>
        <p:nvSpPr>
          <p:cNvPr id="142" name="Text 131"/>
          <p:cNvSpPr/>
          <p:nvPr/>
        </p:nvSpPr>
        <p:spPr>
          <a:xfrm>
            <a:off x="1097280" y="27249882"/>
            <a:ext cx="3246120" cy="384048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W=20</a:t>
            </a:r>
            <a:endParaRPr lang="en-US" sz="1300" dirty="0"/>
          </a:p>
        </p:txBody>
      </p:sp>
      <p:sp>
        <p:nvSpPr>
          <p:cNvPr id="143" name="Text 132"/>
          <p:cNvSpPr/>
          <p:nvPr/>
        </p:nvSpPr>
        <p:spPr>
          <a:xfrm>
            <a:off x="4343400" y="27249882"/>
            <a:ext cx="3246120" cy="384048"/>
          </a:xfrm>
          <a:prstGeom prst="rect">
            <a:avLst/>
          </a:prstGeom>
          <a:solidFill>
            <a:srgbClr val="D4E6F1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100</a:t>
            </a:r>
            <a:endParaRPr lang="en-US" sz="1300" dirty="0"/>
          </a:p>
        </p:txBody>
      </p:sp>
      <p:sp>
        <p:nvSpPr>
          <p:cNvPr id="144" name="Text 133"/>
          <p:cNvSpPr/>
          <p:nvPr/>
        </p:nvSpPr>
        <p:spPr>
          <a:xfrm>
            <a:off x="7589520" y="27249882"/>
            <a:ext cx="3246120" cy="384048"/>
          </a:xfrm>
          <a:prstGeom prst="rect">
            <a:avLst/>
          </a:prstGeom>
          <a:solidFill>
            <a:srgbClr val="D4E6F1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100</a:t>
            </a:r>
            <a:endParaRPr lang="en-US" sz="1300" dirty="0"/>
          </a:p>
        </p:txBody>
      </p:sp>
      <p:sp>
        <p:nvSpPr>
          <p:cNvPr id="145" name="Text 134"/>
          <p:cNvSpPr/>
          <p:nvPr/>
        </p:nvSpPr>
        <p:spPr>
          <a:xfrm>
            <a:off x="10835640" y="27249882"/>
            <a:ext cx="3246120" cy="384048"/>
          </a:xfrm>
          <a:prstGeom prst="rect">
            <a:avLst/>
          </a:prstGeom>
          <a:solidFill>
            <a:srgbClr val="D4E6F1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/ 100</a:t>
            </a:r>
            <a:endParaRPr lang="en-US" sz="1300" dirty="0"/>
          </a:p>
        </p:txBody>
      </p:sp>
      <p:sp>
        <p:nvSpPr>
          <p:cNvPr id="146" name="Text 135"/>
          <p:cNvSpPr/>
          <p:nvPr/>
        </p:nvSpPr>
        <p:spPr>
          <a:xfrm>
            <a:off x="1097280" y="27633930"/>
            <a:ext cx="3246120" cy="384048"/>
          </a:xfrm>
          <a:prstGeom prst="rect">
            <a:avLst/>
          </a:prstGeom>
          <a:solidFill>
            <a:srgbClr val="1B3A5C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W=30</a:t>
            </a:r>
            <a:endParaRPr lang="en-US" sz="1300" dirty="0"/>
          </a:p>
        </p:txBody>
      </p:sp>
      <p:sp>
        <p:nvSpPr>
          <p:cNvPr id="147" name="Text 136"/>
          <p:cNvSpPr/>
          <p:nvPr/>
        </p:nvSpPr>
        <p:spPr>
          <a:xfrm>
            <a:off x="4343400" y="27633930"/>
            <a:ext cx="3246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100</a:t>
            </a:r>
            <a:endParaRPr lang="en-US" sz="1300" dirty="0"/>
          </a:p>
        </p:txBody>
      </p:sp>
      <p:sp>
        <p:nvSpPr>
          <p:cNvPr id="148" name="Text 137"/>
          <p:cNvSpPr/>
          <p:nvPr/>
        </p:nvSpPr>
        <p:spPr>
          <a:xfrm>
            <a:off x="7589520" y="27633930"/>
            <a:ext cx="3246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100</a:t>
            </a:r>
            <a:endParaRPr lang="en-US" sz="1300" dirty="0"/>
          </a:p>
        </p:txBody>
      </p:sp>
      <p:sp>
        <p:nvSpPr>
          <p:cNvPr id="149" name="Text 138"/>
          <p:cNvSpPr/>
          <p:nvPr/>
        </p:nvSpPr>
        <p:spPr>
          <a:xfrm>
            <a:off x="10835640" y="27633930"/>
            <a:ext cx="32461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100</a:t>
            </a:r>
            <a:endParaRPr lang="en-US" sz="1300" dirty="0"/>
          </a:p>
        </p:txBody>
      </p:sp>
      <p:sp>
        <p:nvSpPr>
          <p:cNvPr id="150" name="Text 139"/>
          <p:cNvSpPr/>
          <p:nvPr/>
        </p:nvSpPr>
        <p:spPr>
          <a:xfrm>
            <a:off x="685800" y="28127706"/>
            <a:ext cx="1408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Narrow door = 100% across entire grid → switching never harms precision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W=20 row: stable 67% regardless of δ → robust, no per-env tuning</a:t>
            </a:r>
            <a:endParaRPr lang="en-US" sz="1300" dirty="0"/>
          </a:p>
        </p:txBody>
      </p:sp>
      <p:sp>
        <p:nvSpPr>
          <p:cNvPr id="151" name="Shape 140"/>
          <p:cNvSpPr/>
          <p:nvPr/>
        </p:nvSpPr>
        <p:spPr>
          <a:xfrm>
            <a:off x="15361920" y="25521666"/>
            <a:ext cx="1435608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2" name="Text 141"/>
          <p:cNvSpPr/>
          <p:nvPr/>
        </p:nvSpPr>
        <p:spPr>
          <a:xfrm>
            <a:off x="15544800" y="25539954"/>
            <a:ext cx="1399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TAXONOMY &amp; WHAT DIDN'T WORK</a:t>
            </a:r>
            <a:endParaRPr lang="en-US" sz="2200" dirty="0"/>
          </a:p>
        </p:txBody>
      </p:sp>
      <p:sp>
        <p:nvSpPr>
          <p:cNvPr id="153" name="Text 142"/>
          <p:cNvSpPr/>
          <p:nvPr/>
        </p:nvSpPr>
        <p:spPr>
          <a:xfrm>
            <a:off x="15499080" y="26116026"/>
            <a:ext cx="1408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Greedy tracking failure</a:t>
            </a:r>
            <a:endParaRPr lang="en-US" sz="1300" dirty="0"/>
          </a:p>
        </p:txBody>
      </p:sp>
      <p:sp>
        <p:nvSpPr>
          <p:cNvPr id="154" name="Text 143"/>
          <p:cNvSpPr/>
          <p:nvPr/>
        </p:nvSpPr>
        <p:spPr>
          <a:xfrm>
            <a:off x="15681960" y="26372058"/>
            <a:ext cx="1389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always moves toward goal, cannot retreat — Baseline in U-trap (0%)</a:t>
            </a:r>
            <a:endParaRPr lang="en-US" sz="1200" dirty="0"/>
          </a:p>
        </p:txBody>
      </p:sp>
      <p:sp>
        <p:nvSpPr>
          <p:cNvPr id="155" name="Text 144"/>
          <p:cNvSpPr/>
          <p:nvPr/>
        </p:nvSpPr>
        <p:spPr>
          <a:xfrm>
            <a:off x="15499080" y="26710386"/>
            <a:ext cx="1408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Reward design conflict</a:t>
            </a:r>
            <a:endParaRPr lang="en-US" sz="1300" dirty="0"/>
          </a:p>
        </p:txBody>
      </p:sp>
      <p:sp>
        <p:nvSpPr>
          <p:cNvPr id="156" name="Text 145"/>
          <p:cNvSpPr/>
          <p:nvPr/>
        </p:nvSpPr>
        <p:spPr>
          <a:xfrm>
            <a:off x="15681960" y="26966418"/>
            <a:ext cx="1389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bonus incompatible with precision control — πE in narrow door (0%)</a:t>
            </a:r>
            <a:endParaRPr lang="en-US" sz="1200" dirty="0"/>
          </a:p>
        </p:txBody>
      </p:sp>
      <p:sp>
        <p:nvSpPr>
          <p:cNvPr id="157" name="Text 146"/>
          <p:cNvSpPr/>
          <p:nvPr/>
        </p:nvSpPr>
        <p:spPr>
          <a:xfrm>
            <a:off x="15499080" y="27304746"/>
            <a:ext cx="1408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Parameter space limitation</a:t>
            </a:r>
            <a:endParaRPr lang="en-US" sz="1300" dirty="0"/>
          </a:p>
        </p:txBody>
      </p:sp>
      <p:sp>
        <p:nvSpPr>
          <p:cNvPr id="158" name="Text 147"/>
          <p:cNvSpPr/>
          <p:nvPr/>
        </p:nvSpPr>
        <p:spPr>
          <a:xfrm>
            <a:off x="15681960" y="27560778"/>
            <a:ext cx="1389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network cannot encode opposing behaviors — Annealing experiment</a:t>
            </a:r>
            <a:endParaRPr lang="en-US" sz="1200" dirty="0"/>
          </a:p>
        </p:txBody>
      </p:sp>
      <p:sp>
        <p:nvSpPr>
          <p:cNvPr id="159" name="Text 148"/>
          <p:cNvSpPr/>
          <p:nvPr/>
        </p:nvSpPr>
        <p:spPr>
          <a:xfrm>
            <a:off x="15499080" y="27899106"/>
            <a:ext cx="1408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Detection latency cost</a:t>
            </a:r>
            <a:endParaRPr lang="en-US" sz="1300" dirty="0"/>
          </a:p>
        </p:txBody>
      </p:sp>
      <p:sp>
        <p:nvSpPr>
          <p:cNvPr id="160" name="Text 149"/>
          <p:cNvSpPr/>
          <p:nvPr/>
        </p:nvSpPr>
        <p:spPr>
          <a:xfrm>
            <a:off x="15681960" y="28155138"/>
            <a:ext cx="1389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steps needed to confirm stall before switching — STPS: 75% &lt; πE's 83%</a:t>
            </a:r>
            <a:endParaRPr lang="en-US" sz="1200" dirty="0"/>
          </a:p>
        </p:txBody>
      </p:sp>
      <p:sp>
        <p:nvSpPr>
          <p:cNvPr id="161" name="Text 150"/>
          <p:cNvSpPr/>
          <p:nvPr/>
        </p:nvSpPr>
        <p:spPr>
          <a:xfrm>
            <a:off x="15499080" y="28539186"/>
            <a:ext cx="1408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Unsuccessful attempts:</a:t>
            </a:r>
            <a:endParaRPr lang="en-US" sz="1300" dirty="0"/>
          </a:p>
        </p:txBody>
      </p:sp>
      <p:sp>
        <p:nvSpPr>
          <p:cNvPr id="162" name="Text 151"/>
          <p:cNvSpPr/>
          <p:nvPr/>
        </p:nvSpPr>
        <p:spPr>
          <a:xfrm>
            <a:off x="15499080" y="28767786"/>
            <a:ext cx="1408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STPS v3 (goal-distance detection + progressive escape): no gain over v2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U-trap specialist model: 83% SR, identical to original improved model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Bottleneck is geometric difficulty of specific start orientations</a:t>
            </a:r>
            <a:endParaRPr lang="en-US" sz="1200" dirty="0"/>
          </a:p>
        </p:txBody>
      </p:sp>
      <p:sp>
        <p:nvSpPr>
          <p:cNvPr id="163" name="Shape 152"/>
          <p:cNvSpPr/>
          <p:nvPr/>
        </p:nvSpPr>
        <p:spPr>
          <a:xfrm>
            <a:off x="0" y="29636466"/>
            <a:ext cx="30266640" cy="484632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64" name="Shape 153"/>
          <p:cNvSpPr/>
          <p:nvPr/>
        </p:nvSpPr>
        <p:spPr>
          <a:xfrm>
            <a:off x="548640" y="29773626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5" name="Text 154"/>
          <p:cNvSpPr/>
          <p:nvPr/>
        </p:nvSpPr>
        <p:spPr>
          <a:xfrm>
            <a:off x="731520" y="2979191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66" name="Text 155"/>
          <p:cNvSpPr/>
          <p:nvPr/>
        </p:nvSpPr>
        <p:spPr>
          <a:xfrm>
            <a:off x="685800" y="30367986"/>
            <a:ext cx="9144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Exploration rewards create a hard, irreconcilable conflict with precision navigation — exploration solves traps but destroys narrow-passage traversal.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STPS resolves this by composing complementary frozen policies at runtime via stall and oscillation detection.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STPS achieves 94% scenario average SR (+27 points vs baseline) and 88% standard SR, and is the only method without catastrophic failure on any scenario.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The method requires zero additional training and adds negligible computational overhead (&lt;0.1ms per step).</a:t>
            </a:r>
            <a:endParaRPr lang="en-US" sz="1400" dirty="0"/>
          </a:p>
        </p:txBody>
      </p:sp>
      <p:sp>
        <p:nvSpPr>
          <p:cNvPr id="167" name="Shape 156"/>
          <p:cNvSpPr/>
          <p:nvPr/>
        </p:nvSpPr>
        <p:spPr>
          <a:xfrm>
            <a:off x="10241280" y="29773626"/>
            <a:ext cx="96012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8" name="Text 157"/>
          <p:cNvSpPr/>
          <p:nvPr/>
        </p:nvSpPr>
        <p:spPr>
          <a:xfrm>
            <a:off x="10424160" y="29791914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169" name="Text 158"/>
          <p:cNvSpPr/>
          <p:nvPr/>
        </p:nvSpPr>
        <p:spPr>
          <a:xfrm>
            <a:off x="10378440" y="30367986"/>
            <a:ext cx="9326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Real-robot deployment: Deploy STPS on AgileX LIMO platform with onboard 360° LiDAR and ROS 2 Humble.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Learned switch trigger: Replace hand-designed stall detector with RL-based scene classifier for faster, more accurate mode switching.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Policy library expansion: Add specialized policies for dynamic obstacles, multi-robot scenarios, and outdoor terrain.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Isaac Lab integration: Leverage GPU-parallel simulation (1000+ envs) for large-scale training.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PINN delay compensation: Physics-informed neural networks for real-time observation delay correction on real hardware.</a:t>
            </a:r>
            <a:endParaRPr lang="en-US" sz="1400" dirty="0"/>
          </a:p>
        </p:txBody>
      </p:sp>
      <p:sp>
        <p:nvSpPr>
          <p:cNvPr id="170" name="Shape 159"/>
          <p:cNvSpPr/>
          <p:nvPr/>
        </p:nvSpPr>
        <p:spPr>
          <a:xfrm>
            <a:off x="20391120" y="29773626"/>
            <a:ext cx="91440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1" name="Text 160"/>
          <p:cNvSpPr/>
          <p:nvPr/>
        </p:nvSpPr>
        <p:spPr>
          <a:xfrm>
            <a:off x="20574000" y="2979191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172" name="Text 161"/>
          <p:cNvSpPr/>
          <p:nvPr/>
        </p:nvSpPr>
        <p:spPr>
          <a:xfrm>
            <a:off x="20528280" y="30367986"/>
            <a:ext cx="8778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AgileX LIMO (0.32×0.22m), diff-drive,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LiDAR, ROS 2 Humble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advantages: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STPS logic is pure Python if-else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Both policies use standard LiDAR input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ROS 2 node already written &amp; tested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No GPU required for switching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scenarios: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Warehouse shelving dead-ends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Hospital corridors with doorways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Office furniture traps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Indoor concave obstacles</a:t>
            </a:r>
            <a:endParaRPr lang="en-US" sz="1400" dirty="0"/>
          </a:p>
        </p:txBody>
      </p:sp>
      <p:sp>
        <p:nvSpPr>
          <p:cNvPr id="173" name="Shape 162"/>
          <p:cNvSpPr/>
          <p:nvPr/>
        </p:nvSpPr>
        <p:spPr>
          <a:xfrm>
            <a:off x="0" y="42382440"/>
            <a:ext cx="30266640" cy="4114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4" name="Text 163"/>
          <p:cNvSpPr/>
          <p:nvPr/>
        </p:nvSpPr>
        <p:spPr>
          <a:xfrm>
            <a:off x="914400" y="42400728"/>
            <a:ext cx="2834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IR-SIM v2.7.5  |  PyTorch 2.12  |  Python 3.10  |  Seeds: {42, 123, 2026}  |  Cmd: python eval_stps_v2.py  |  Summer Research Program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2026-07-24T01:17:55Z</dcterms:created>
  <dcterms:modified xsi:type="dcterms:W3CDTF">2026-07-24T01:17:55Z</dcterms:modified>
</cp:coreProperties>
</file>